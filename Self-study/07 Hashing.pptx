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8" r:id="rId11"/>
    <p:sldId id="265" r:id="rId12"/>
    <p:sldId id="266" r:id="rId13"/>
    <p:sldId id="267" r:id="rId14"/>
    <p:sldId id="268" r:id="rId15"/>
    <p:sldId id="269" r:id="rId16"/>
    <p:sldId id="289" r:id="rId17"/>
    <p:sldId id="270" r:id="rId18"/>
    <p:sldId id="273" r:id="rId19"/>
    <p:sldId id="277" r:id="rId20"/>
    <p:sldId id="274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690491-C331-4757-8A9B-A2C2117C481C}" v="35" dt="2022-03-24T16:21:15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1" autoAdjust="0"/>
    <p:restoredTop sz="94660"/>
  </p:normalViewPr>
  <p:slideViewPr>
    <p:cSldViewPr>
      <p:cViewPr varScale="1">
        <p:scale>
          <a:sx n="102" d="100"/>
          <a:sy n="102" d="100"/>
        </p:scale>
        <p:origin x="1181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Raymer" userId="a4641e0667e5c0f8" providerId="LiveId" clId="{6F690491-C331-4757-8A9B-A2C2117C481C}"/>
    <pc:docChg chg="custSel modSld">
      <pc:chgData name="Michael Raymer" userId="a4641e0667e5c0f8" providerId="LiveId" clId="{6F690491-C331-4757-8A9B-A2C2117C481C}" dt="2022-03-24T16:23:54.812" v="50" actId="20577"/>
      <pc:docMkLst>
        <pc:docMk/>
      </pc:docMkLst>
      <pc:sldChg chg="modSp mod">
        <pc:chgData name="Michael Raymer" userId="a4641e0667e5c0f8" providerId="LiveId" clId="{6F690491-C331-4757-8A9B-A2C2117C481C}" dt="2022-03-24T16:23:54.812" v="50" actId="20577"/>
        <pc:sldMkLst>
          <pc:docMk/>
          <pc:sldMk cId="0" sldId="279"/>
        </pc:sldMkLst>
        <pc:spChg chg="mod">
          <ac:chgData name="Michael Raymer" userId="a4641e0667e5c0f8" providerId="LiveId" clId="{6F690491-C331-4757-8A9B-A2C2117C481C}" dt="2022-03-24T16:23:54.812" v="50" actId="20577"/>
          <ac:spMkLst>
            <pc:docMk/>
            <pc:sldMk cId="0" sldId="279"/>
            <ac:spMk id="32773" creationId="{6F87154F-55A1-42B3-AB51-1554AFABF0D8}"/>
          </ac:spMkLst>
        </pc:spChg>
      </pc:sldChg>
      <pc:sldChg chg="delSp modSp mod">
        <pc:chgData name="Michael Raymer" userId="a4641e0667e5c0f8" providerId="LiveId" clId="{6F690491-C331-4757-8A9B-A2C2117C481C}" dt="2022-03-24T16:21:15.236" v="39"/>
        <pc:sldMkLst>
          <pc:docMk/>
          <pc:sldMk cId="0" sldId="283"/>
        </pc:sldMkLst>
        <pc:spChg chg="mod">
          <ac:chgData name="Michael Raymer" userId="a4641e0667e5c0f8" providerId="LiveId" clId="{6F690491-C331-4757-8A9B-A2C2117C481C}" dt="2022-03-24T16:21:15.236" v="39"/>
          <ac:spMkLst>
            <pc:docMk/>
            <pc:sldMk cId="0" sldId="283"/>
            <ac:spMk id="36869" creationId="{D5526AAF-9D28-4CC5-B6BC-39F29E59A2F9}"/>
          </ac:spMkLst>
        </pc:spChg>
        <pc:graphicFrameChg chg="del">
          <ac:chgData name="Michael Raymer" userId="a4641e0667e5c0f8" providerId="LiveId" clId="{6F690491-C331-4757-8A9B-A2C2117C481C}" dt="2022-03-24T16:20:37.237" v="31" actId="478"/>
          <ac:graphicFrameMkLst>
            <pc:docMk/>
            <pc:sldMk cId="0" sldId="283"/>
            <ac:graphicFrameMk id="36871" creationId="{CD71A073-1FB8-4063-8582-FDE3AADCAB9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4301FF0-8EF1-4A78-A35D-BFCFE9BF8B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B436B48-CBAF-43FA-A899-25248DDCA0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0E3174F4-0DFC-400A-8B88-151B66CC385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A7130FCF-DC1A-4720-A3A0-C88DC06FEC4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8B26B72-4242-402C-86D7-A7E0222B5CD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D287AD7-69B8-4732-B666-51B2DBB517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4BEA41A-C011-421F-BE8B-4DD274E4EC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A44011D-C748-49F0-B64C-D0BC51B8BD3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53AEC01-9209-4BA7-9557-41678A6AB5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98B0537-E69E-436E-B1CC-9298A9E278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302D5886-31B5-4B1C-8A30-1F82838AEA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78C7685-BE23-4C37-A9D6-1161B9F4FF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8D90DE2-A1E9-4DED-8648-635E9D3F48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FFF5FE-38FD-4AF0-9690-7138CD28B1F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3FCE572-E2A2-432E-8D43-1A901C42CB8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10E2569-3580-4D80-A587-8914C180C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E2B3A6C-6712-4545-BC6A-955622F2EA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951A87C-1C97-417A-98D0-823A5B46DC7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BECB039-C53F-4CF7-80DD-4846794154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3222DA5-FA4C-4493-A838-7DCD04091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087FD9C-0B41-4E8A-B7A6-842D2F062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7971BE-86F1-4ABC-A374-44329E1F1934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BB110B5-0EE4-4DF5-9D11-C0A5C399120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0E5E477-08C8-4196-95FF-BCBF27AAA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F9C9B6BB-E844-4258-B6BE-AB9B2B697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DF6F3C-C9DE-4004-A8EE-373BDEF8A208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E66B0D3-5A71-45B1-B73F-9CA74265FA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30B2074-7BFB-42A1-BFC2-9E59EB986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A5ED8B0-29D6-4904-8061-C8A5F586A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52889B-D90F-4FE4-8884-EAFF7B1F72D3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32F64AD-0E13-4F9A-ABFB-334740B038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2AD3043-92E0-45A7-986C-E7CECBF03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68110BA3-D835-49D7-A48C-F8BF08F04D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F12997-CB70-4F4A-AC6B-B879064DEE92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B96AC76-53C8-4D51-846F-F12C624927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4335A58-935B-4785-BFA1-66D01118C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For (a): prob(3) = 4/11, prob(4) = 1/11, prob(5) = 1/11, prob(6) = 1/11, prob(10) = 4/11.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For(b): prob(3) = 8/11, prob(4,5,6) = 1/11 each.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2CEA55D-CAB4-4F02-BA9D-7E71D83630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95BD42-7A29-44DA-934C-94729E65C736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D793DAA-5B46-4966-B1D7-A8DA95A399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961D676-DF5C-4186-957F-8D3B60C7E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150D328-F3CA-4F2C-B7B5-9D08F0D65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F6E8DA-2A16-4BF1-A036-95079C4F1B25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00CC367-210F-42C5-AEC3-B084E4AF6C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87CC3FD-9A38-46AC-94B8-B2B9F5B63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A8B05B8E-9A92-47F9-9CA5-8EA29F3D93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9A8BD4-4C61-45F1-BCCF-E6069E095096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1200222-E5D6-43D8-BFB8-78CCA41D4D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F807AD8-4D0A-48A2-AE71-E3699A3A5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B1F207-ADA8-4917-B8E6-B9AB793B75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EE93D4F-0B6F-457F-8C7C-F1B50D4DBC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C9932A-A571-4810-B4C7-27529C1F1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10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E1E1C2-3FC2-440C-A266-66B9A3E502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454D5BD-94FB-4365-9847-66ACEAB238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1C960-D33E-4387-B8FE-514F71B9C2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50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A806C6-C532-4EE3-8B94-39991C993C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0CB58FF-EBD6-46A7-8F5A-D6CB253584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5C5B5A-49BD-49A3-8C8F-8FEAC18F45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05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148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1148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12E553-A083-4B7B-A137-B93D73FB4C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673954-E664-439A-A786-24843C8A3AE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B033D3-417A-4E08-9BCA-7D8A9E1830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809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255153-7625-4BC8-9622-A0BC2C602C0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76A170A-65FE-41C2-B3D6-01927369FB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9987D7-7816-490F-93FF-5829AF59AE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62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1884FCB-81F4-405F-BEBD-1237FD95FC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8BB190-9CCC-4466-A3ED-D9C3860258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B86827-5AEA-4552-B23B-A2648465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0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0A105F0-19C2-4B1C-B653-08691934EA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1B36AD5-59EC-495A-ACBD-0CD770DCB7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7EA9C1-7640-43D1-91FB-80AA34BBC3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59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19A0B6-D01B-4F4B-B31F-981FC6A254F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0B8D92-B382-4252-BBA3-3A5439BE3C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58CD2C-E994-46EE-A2DB-C89AE72A50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26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C6E7AE-0157-42F9-B62F-8C1CD70C62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86D6B6-1788-4973-A7F7-D9F59C4937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99C89F-758E-47D7-BCD2-3385295CD0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29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38E28-F32E-4F2A-A69C-356198E4D0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0C2F81-C369-405C-A5DD-EC8C791E2D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C5BE5F-976B-4FEB-9DCD-BCF8F814D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919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1524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9D0385-010B-4083-B7BE-E95D9F11E4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77F08D-138C-468F-A6E6-701185F59F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1F99E3-2B4D-4A06-AA9A-96941361B5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12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C39524-7CD8-419B-B203-7A97B1248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4A67B6-21E3-496F-9696-D75E3D1E5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382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26AEB6-2D43-4B27-A0B7-150A126574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" y="6324600"/>
            <a:ext cx="3200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Search and Hashing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577A42-3027-4677-8533-667E1A87B4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EB9FF97-E8E9-4C79-8ADB-4528CA4896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A2145D06-F030-499B-81C2-0AA92EF271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777777"/>
        </a:buClr>
        <a:buFont typeface="Symbol" panose="05050102010706020507" pitchFamily="18" charset="2"/>
        <a:buChar char="·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924CE4E-0D9A-449A-9FDE-CDB3C264B9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2514600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en-US" sz="4000"/>
              <a:t>Searching:  Self Organizing Structures and Hashing</a:t>
            </a:r>
            <a:endParaRPr lang="en-US" altLang="en-US" sz="3200"/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ACAF65F4-CB9E-46EB-9C24-8CD67D4E0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610600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CS 3100 – Data Structures &amp; Algorithms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DC99705-09F6-49A8-9A7C-1E2571BCEF6D}"/>
              </a:ext>
            </a:extLst>
          </p:cNvPr>
          <p:cNvSpPr txBox="1"/>
          <p:nvPr/>
        </p:nvSpPr>
        <p:spPr>
          <a:xfrm>
            <a:off x="3287713" y="4267200"/>
            <a:ext cx="2644775" cy="22082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050" dirty="0"/>
              <a:t>Lecture materials adapted from:</a:t>
            </a:r>
          </a:p>
          <a:p>
            <a:pPr algn="ctr">
              <a:defRPr/>
            </a:pPr>
            <a:endParaRPr lang="en-US" altLang="en-US" sz="1050" dirty="0">
              <a:latin typeface="Helvetica" panose="020B0604020202020204" pitchFamily="34" charset="0"/>
            </a:endParaRPr>
          </a:p>
          <a:p>
            <a:pPr algn="ctr">
              <a:defRPr/>
            </a:pPr>
            <a:r>
              <a:rPr lang="en-US" altLang="en-US" sz="1050" dirty="0" err="1">
                <a:latin typeface="Helvetica" panose="020B0604020202020204" pitchFamily="34" charset="0"/>
              </a:rPr>
              <a:t>Coursenotes</a:t>
            </a:r>
            <a:endParaRPr lang="en-US" altLang="en-US" sz="1050" dirty="0">
              <a:latin typeface="Helvetica" panose="020B0604020202020204" pitchFamily="34" charset="0"/>
            </a:endParaRPr>
          </a:p>
          <a:p>
            <a:pPr algn="ctr">
              <a:defRPr/>
            </a:pPr>
            <a:endParaRPr lang="en-US" altLang="en-US" sz="1050" dirty="0">
              <a:latin typeface="Helvetica" panose="020B0604020202020204" pitchFamily="34" charset="0"/>
            </a:endParaRP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A Practical Introduction to</a:t>
            </a: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Data Structures and Algorithm Analysis</a:t>
            </a:r>
          </a:p>
          <a:p>
            <a:pPr algn="ctr">
              <a:defRPr/>
            </a:pPr>
            <a:r>
              <a:rPr lang="en-US" altLang="en-US" sz="1100" dirty="0">
                <a:latin typeface="Helvetica" panose="020B0604020202020204" pitchFamily="34" charset="0"/>
              </a:rPr>
              <a:t>Second Edition</a:t>
            </a:r>
          </a:p>
          <a:p>
            <a:pPr algn="ctr">
              <a:defRPr/>
            </a:pPr>
            <a:endParaRPr lang="en-US" altLang="en-US" sz="1100" dirty="0">
              <a:latin typeface="Helvetica" panose="020B0604020202020204" pitchFamily="34" charset="0"/>
            </a:endParaRP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Clifford A. Shaffer</a:t>
            </a: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Department of Computer Science</a:t>
            </a: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Virginia Tech</a:t>
            </a:r>
          </a:p>
          <a:p>
            <a:pPr algn="ctr">
              <a:defRPr/>
            </a:pPr>
            <a:r>
              <a:rPr lang="en-US" altLang="en-US" sz="1050" dirty="0">
                <a:latin typeface="Helvetica" panose="020B0604020202020204" pitchFamily="34" charset="0"/>
              </a:rPr>
              <a:t>Copyright © 2000, 2001</a:t>
            </a:r>
          </a:p>
          <a:p>
            <a:pPr>
              <a:defRPr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A83F416E-F818-4C7E-B087-03D6313B2B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CDC0D02B-FC42-4D0E-A795-2D566BE49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8C9D21-10DE-4B8C-AA26-E3A0AEB8808E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430082" name="Rectangle 2">
            <a:extLst>
              <a:ext uri="{FF2B5EF4-FFF2-40B4-BE49-F238E27FC236}">
                <a16:creationId xmlns:a16="http://schemas.microsoft.com/office/drawing/2014/main" id="{E80BE9D2-20DE-41B0-9354-AA2A36FB5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Searching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8353AABD-08B1-4133-97CA-0DD470F57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Records contain </a:t>
            </a:r>
            <a:r>
              <a:rPr lang="en-US" altLang="en-US" i="1"/>
              <a:t>information</a:t>
            </a:r>
            <a:r>
              <a:rPr lang="en-US" altLang="en-US"/>
              <a:t> and </a:t>
            </a:r>
            <a:r>
              <a:rPr lang="en-US" altLang="en-US" i="1"/>
              <a:t>keys</a:t>
            </a:r>
          </a:p>
          <a:p>
            <a:pPr lvl="1" eaLnBrk="1" hangingPunct="1"/>
            <a:r>
              <a:rPr lang="en-US" altLang="en-US" i="1"/>
              <a:t>&lt;k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I</a:t>
            </a:r>
            <a:r>
              <a:rPr lang="en-US" altLang="en-US" baseline="-25000"/>
              <a:t>1</a:t>
            </a:r>
            <a:r>
              <a:rPr lang="en-US" altLang="en-US"/>
              <a:t>&gt;, </a:t>
            </a:r>
            <a:r>
              <a:rPr lang="en-US" altLang="en-US" i="1"/>
              <a:t>&lt;k</a:t>
            </a:r>
            <a:r>
              <a:rPr lang="en-US" altLang="en-US" baseline="-25000"/>
              <a:t>2</a:t>
            </a:r>
            <a:r>
              <a:rPr lang="en-US" altLang="en-US"/>
              <a:t>, </a:t>
            </a:r>
            <a:r>
              <a:rPr lang="en-US" altLang="en-US" i="1"/>
              <a:t>I</a:t>
            </a:r>
            <a:r>
              <a:rPr lang="en-US" altLang="en-US" baseline="-25000"/>
              <a:t>2</a:t>
            </a:r>
            <a:r>
              <a:rPr lang="en-US" altLang="en-US"/>
              <a:t>&gt;, …, </a:t>
            </a:r>
            <a:r>
              <a:rPr lang="en-US" altLang="en-US" i="1"/>
              <a:t>&lt;k</a:t>
            </a:r>
            <a:r>
              <a:rPr lang="en-US" altLang="en-US" i="1" baseline="-25000"/>
              <a:t>n</a:t>
            </a:r>
            <a:r>
              <a:rPr lang="en-US" altLang="en-US"/>
              <a:t>, </a:t>
            </a:r>
            <a:r>
              <a:rPr lang="en-US" altLang="en-US" i="1"/>
              <a:t>I</a:t>
            </a:r>
            <a:r>
              <a:rPr lang="en-US" altLang="en-US" i="1" baseline="-25000"/>
              <a:t>n</a:t>
            </a:r>
            <a:r>
              <a:rPr lang="en-US" altLang="en-US"/>
              <a:t>&gt;</a:t>
            </a:r>
          </a:p>
          <a:p>
            <a:pPr eaLnBrk="1" hangingPunct="1"/>
            <a:r>
              <a:rPr lang="en-US" altLang="en-US"/>
              <a:t>Find all records with key value </a:t>
            </a:r>
            <a:r>
              <a:rPr lang="en-US" altLang="en-US" i="1"/>
              <a:t>K</a:t>
            </a:r>
          </a:p>
          <a:p>
            <a:pPr eaLnBrk="1" hangingPunct="1"/>
            <a:r>
              <a:rPr lang="en-US" altLang="en-US"/>
              <a:t>May be successful or unsuccessful</a:t>
            </a:r>
          </a:p>
          <a:p>
            <a:pPr eaLnBrk="1" hangingPunct="1"/>
            <a:r>
              <a:rPr lang="en-US" altLang="en-US"/>
              <a:t>Range query:  all records with key values between </a:t>
            </a:r>
            <a:r>
              <a:rPr lang="en-US" altLang="en-US" i="1"/>
              <a:t>K</a:t>
            </a:r>
            <a:r>
              <a:rPr lang="en-US" altLang="en-US" i="1" baseline="-25000"/>
              <a:t>low</a:t>
            </a:r>
            <a:r>
              <a:rPr lang="en-US" altLang="en-US"/>
              <a:t> and </a:t>
            </a:r>
            <a:r>
              <a:rPr lang="en-US" altLang="en-US" i="1"/>
              <a:t>K</a:t>
            </a:r>
            <a:r>
              <a:rPr lang="en-US" altLang="en-US" i="1" baseline="-25000"/>
              <a:t>high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907E98AC-D971-4C89-BAD5-857C02BD4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B58D8708-C9BD-4461-A8E4-8D5787E26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DE3FB8-D696-42DA-9799-4E8975CE67A0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431106" name="Rectangle 2">
            <a:extLst>
              <a:ext uri="{FF2B5EF4-FFF2-40B4-BE49-F238E27FC236}">
                <a16:creationId xmlns:a16="http://schemas.microsoft.com/office/drawing/2014/main" id="{C7ED7293-088B-450D-BEFE-FEA6FA341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Searching Sorted Arrays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B22E6D2B-C807-4948-9673-6C0A19DEB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Previously we determined:</a:t>
            </a:r>
          </a:p>
          <a:p>
            <a:pPr eaLnBrk="1" hangingPunct="1"/>
            <a:r>
              <a:rPr lang="en-US" altLang="en-US"/>
              <a:t>With the probability of a failed search = </a:t>
            </a:r>
            <a:r>
              <a:rPr lang="en-US" altLang="en-US" i="1"/>
              <a:t>p</a:t>
            </a:r>
            <a:r>
              <a:rPr lang="en-US" altLang="en-US" baseline="-25000"/>
              <a:t>0</a:t>
            </a:r>
            <a:r>
              <a:rPr lang="en-US" altLang="en-US" i="1"/>
              <a:t> </a:t>
            </a:r>
            <a:r>
              <a:rPr lang="en-US" altLang="en-US"/>
              <a:t>and probability to find record in each slot = </a:t>
            </a:r>
            <a:r>
              <a:rPr lang="en-US" altLang="en-US" i="1"/>
              <a:t>p</a:t>
            </a:r>
            <a:r>
              <a:rPr lang="en-US" altLang="en-US"/>
              <a:t>:</a:t>
            </a:r>
          </a:p>
        </p:txBody>
      </p:sp>
      <p:graphicFrame>
        <p:nvGraphicFramePr>
          <p:cNvPr id="6150" name="Object 4">
            <a:extLst>
              <a:ext uri="{FF2B5EF4-FFF2-40B4-BE49-F238E27FC236}">
                <a16:creationId xmlns:a16="http://schemas.microsoft.com/office/drawing/2014/main" id="{14A0D279-CE7D-4D95-A8AB-51991325B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952500"/>
          <a:ext cx="30480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431800" progId="Equation.3">
                  <p:embed/>
                </p:oleObj>
              </mc:Choice>
              <mc:Fallback>
                <p:oleObj name="Equation" r:id="rId2" imgW="1384300" imgH="431800" progId="Equation.3">
                  <p:embed/>
                  <p:pic>
                    <p:nvPicPr>
                      <p:cNvPr id="6150" name="Object 4">
                        <a:extLst>
                          <a:ext uri="{FF2B5EF4-FFF2-40B4-BE49-F238E27FC236}">
                            <a16:creationId xmlns:a16="http://schemas.microsoft.com/office/drawing/2014/main" id="{14A0D279-CE7D-4D95-A8AB-51991325BF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952500"/>
                        <a:ext cx="30480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6">
            <a:extLst>
              <a:ext uri="{FF2B5EF4-FFF2-40B4-BE49-F238E27FC236}">
                <a16:creationId xmlns:a16="http://schemas.microsoft.com/office/drawing/2014/main" id="{88605F80-EFF0-4296-9ACE-02EED7980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5654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2146300" progId="Equation.3">
                  <p:embed/>
                </p:oleObj>
              </mc:Choice>
              <mc:Fallback>
                <p:oleObj name="Equation" r:id="rId4" imgW="2997200" imgH="2146300" progId="Equation.3">
                  <p:embed/>
                  <p:pic>
                    <p:nvPicPr>
                      <p:cNvPr id="6151" name="Object 6">
                        <a:extLst>
                          <a:ext uri="{FF2B5EF4-FFF2-40B4-BE49-F238E27FC236}">
                            <a16:creationId xmlns:a16="http://schemas.microsoft.com/office/drawing/2014/main" id="{88605F80-EFF0-4296-9ACE-02EED79802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5654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F0923ED3-CB26-4D4C-BF7B-EEE42B217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375025"/>
          <a:ext cx="25908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533400" progId="Equation.3">
                  <p:embed/>
                </p:oleObj>
              </mc:Choice>
              <mc:Fallback>
                <p:oleObj name="Equation" r:id="rId6" imgW="1574800" imgH="533400" progId="Equation.3">
                  <p:embed/>
                  <p:pic>
                    <p:nvPicPr>
                      <p:cNvPr id="6152" name="Object 8">
                        <a:extLst>
                          <a:ext uri="{FF2B5EF4-FFF2-40B4-BE49-F238E27FC236}">
                            <a16:creationId xmlns:a16="http://schemas.microsoft.com/office/drawing/2014/main" id="{F0923ED3-CB26-4D4C-BF7B-EEE42B2175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375025"/>
                        <a:ext cx="2590800" cy="815975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6D170BC5-2C68-49E7-ACAA-32C9922B6D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7171" name="Slide Number Placeholder 4">
            <a:extLst>
              <a:ext uri="{FF2B5EF4-FFF2-40B4-BE49-F238E27FC236}">
                <a16:creationId xmlns:a16="http://schemas.microsoft.com/office/drawing/2014/main" id="{38229138-C0B9-425F-8A06-39E5F38CD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6CF5E6-50E3-42A7-B1C2-2AFE0D3555F9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CA22C2EB-30AB-446C-97F0-8A1AC929B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Self Organization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8FCD3441-1580-47F1-AB8C-0F04EBD4F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80/20 Rule – In many applications, 80% of the accesses reference 20% of the records</a:t>
            </a:r>
          </a:p>
          <a:p>
            <a:pPr eaLnBrk="1" hangingPunct="1"/>
            <a:r>
              <a:rPr lang="en-US" altLang="en-US"/>
              <a:t>If we sorted the records by the frequency that they will be accessed, then a linear search through the array can be efficient</a:t>
            </a:r>
          </a:p>
          <a:p>
            <a:pPr eaLnBrk="1" hangingPunct="1"/>
            <a:r>
              <a:rPr lang="en-US" altLang="en-US"/>
              <a:t>Since we don’t know what the actual access pattern will be, we use </a:t>
            </a:r>
            <a:r>
              <a:rPr lang="en-US" altLang="en-US" i="1"/>
              <a:t>heuristics</a:t>
            </a:r>
            <a:r>
              <a:rPr lang="en-US" altLang="en-US"/>
              <a:t> to order the array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76ADBD54-B284-403B-BBC4-7CEEE6543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8830FF88-D02C-4A74-B0ED-0E314A5CA8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E2BD1C-86C5-46CA-9BC2-CCCA46A16932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436226" name="Rectangle 2">
            <a:extLst>
              <a:ext uri="{FF2B5EF4-FFF2-40B4-BE49-F238E27FC236}">
                <a16:creationId xmlns:a16="http://schemas.microsoft.com/office/drawing/2014/main" id="{0DD94909-1CC3-4682-8E3B-150D0B578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Reorder Heuristics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52B3663E-C17E-4335-9272-9299412BD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u="sng"/>
              <a:t>Count</a:t>
            </a:r>
            <a:r>
              <a:rPr lang="en-US" altLang="en-US"/>
              <a:t> – keep a count for each record and sort by count</a:t>
            </a:r>
          </a:p>
          <a:p>
            <a:pPr lvl="1" eaLnBrk="1" hangingPunct="1"/>
            <a:r>
              <a:rPr lang="en-US" altLang="en-US"/>
              <a:t>Doesn’t react well to changes in access frequency over time</a:t>
            </a:r>
          </a:p>
          <a:p>
            <a:pPr eaLnBrk="1" hangingPunct="1"/>
            <a:r>
              <a:rPr lang="en-US" altLang="en-US" u="sng"/>
              <a:t>Move-to-front</a:t>
            </a:r>
            <a:r>
              <a:rPr lang="en-US" altLang="en-US"/>
              <a:t> – move record to front of the list on access</a:t>
            </a:r>
          </a:p>
          <a:p>
            <a:pPr lvl="1" eaLnBrk="1" hangingPunct="1"/>
            <a:r>
              <a:rPr lang="en-US" altLang="en-US"/>
              <a:t>Responds better to dynamic changes</a:t>
            </a:r>
          </a:p>
          <a:p>
            <a:pPr eaLnBrk="1" hangingPunct="1"/>
            <a:r>
              <a:rPr lang="en-US" altLang="en-US" u="sng"/>
              <a:t>Transpose</a:t>
            </a:r>
            <a:r>
              <a:rPr lang="en-US" altLang="en-US"/>
              <a:t> – swap record with previous (move one step towards front of list) on access</a:t>
            </a:r>
          </a:p>
          <a:p>
            <a:pPr lvl="1" eaLnBrk="1" hangingPunct="1"/>
            <a:r>
              <a:rPr lang="en-US" altLang="en-US"/>
              <a:t>Pathological case:  Last and next-to-last/repeat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66621B21-D36C-4433-AB33-7E9B875906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9219" name="Slide Number Placeholder 4">
            <a:extLst>
              <a:ext uri="{FF2B5EF4-FFF2-40B4-BE49-F238E27FC236}">
                <a16:creationId xmlns:a16="http://schemas.microsoft.com/office/drawing/2014/main" id="{719704A8-0E54-42FE-AB5F-933BF091D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8A7ACD-E865-4BB5-A8DA-CAECA12A9026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437250" name="Rectangle 2">
            <a:extLst>
              <a:ext uri="{FF2B5EF4-FFF2-40B4-BE49-F238E27FC236}">
                <a16:creationId xmlns:a16="http://schemas.microsoft.com/office/drawing/2014/main" id="{C72DA566-86C8-4ED1-B51A-CC325F663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Analysis of Self Organizing Lists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607EF513-6C32-4198-A737-22444806F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Slower search than search trees or sorted lists</a:t>
            </a:r>
          </a:p>
          <a:p>
            <a:pPr eaLnBrk="1" hangingPunct="1"/>
            <a:r>
              <a:rPr lang="en-US" altLang="en-US"/>
              <a:t>Fast insert</a:t>
            </a:r>
          </a:p>
          <a:p>
            <a:pPr eaLnBrk="1" hangingPunct="1"/>
            <a:r>
              <a:rPr lang="en-US" altLang="en-US"/>
              <a:t>Simple to implement</a:t>
            </a:r>
          </a:p>
          <a:p>
            <a:pPr eaLnBrk="1" hangingPunct="1"/>
            <a:r>
              <a:rPr lang="en-US" altLang="en-US"/>
              <a:t>Very efficient for small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C1388C37-761B-4CCE-8802-09DC486718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E6164CCE-FC1F-4074-ABBC-D044B3F292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7EB265-05DB-49D0-84DB-2484F489733D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438274" name="Rectangle 2">
            <a:extLst>
              <a:ext uri="{FF2B5EF4-FFF2-40B4-BE49-F238E27FC236}">
                <a16:creationId xmlns:a16="http://schemas.microsoft.com/office/drawing/2014/main" id="{1BC76E69-400A-45DF-A46E-FCDF3EEF52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Hashing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7480251A-0F4D-4D37-8584-F5B319AA7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 a </a:t>
            </a:r>
            <a:r>
              <a:rPr lang="en-US" altLang="en-US" u="sng"/>
              <a:t>hash function</a:t>
            </a:r>
            <a:r>
              <a:rPr lang="en-US" altLang="en-US"/>
              <a:t>, </a:t>
            </a:r>
            <a:r>
              <a:rPr lang="en-US" altLang="en-US" i="1"/>
              <a:t>hash</a:t>
            </a:r>
            <a:r>
              <a:rPr lang="en-US" altLang="en-US"/>
              <a:t>, that maps a </a:t>
            </a:r>
            <a:r>
              <a:rPr lang="en-US" altLang="en-US" i="1"/>
              <a:t>key</a:t>
            </a:r>
            <a:r>
              <a:rPr lang="en-US" altLang="en-US"/>
              <a:t> to a slot in the </a:t>
            </a:r>
            <a:r>
              <a:rPr lang="en-US" altLang="en-US" i="1"/>
              <a:t>hashTable</a:t>
            </a:r>
          </a:p>
          <a:p>
            <a:pPr lvl="1" eaLnBrk="1" hangingPunct="1"/>
            <a:r>
              <a:rPr lang="en-US" altLang="en-US" i="1"/>
              <a:t>hashTable</a:t>
            </a:r>
            <a:r>
              <a:rPr lang="en-US" altLang="en-US"/>
              <a:t>[</a:t>
            </a:r>
            <a:r>
              <a:rPr lang="en-US" altLang="en-US" i="1"/>
              <a:t>hash</a:t>
            </a:r>
            <a:r>
              <a:rPr lang="en-US" altLang="en-US"/>
              <a:t>(</a:t>
            </a:r>
            <a:r>
              <a:rPr lang="en-US" altLang="en-US" i="1"/>
              <a:t>key</a:t>
            </a:r>
            <a:r>
              <a:rPr lang="en-US" altLang="en-US"/>
              <a:t>)] = record</a:t>
            </a:r>
          </a:p>
          <a:p>
            <a:pPr eaLnBrk="1" hangingPunct="1"/>
            <a:r>
              <a:rPr lang="en-US" altLang="en-US"/>
              <a:t>The size of the hash table is </a:t>
            </a:r>
            <a:r>
              <a:rPr lang="en-US" altLang="en-US" i="1"/>
              <a:t>N</a:t>
            </a:r>
            <a:r>
              <a:rPr lang="en-US" altLang="en-US"/>
              <a:t>.</a:t>
            </a:r>
          </a:p>
          <a:p>
            <a:pPr lvl="1" eaLnBrk="1" hangingPunct="1"/>
            <a:r>
              <a:rPr lang="en-US" altLang="en-US"/>
              <a:t>0 </a:t>
            </a:r>
            <a:r>
              <a:rPr lang="en-US" altLang="en-US">
                <a:cs typeface="Times New Roman" panose="02020603050405020304" pitchFamily="18" charset="0"/>
              </a:rPr>
              <a:t> 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 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Simple case:  When unique keys are integers, we might use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hash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%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lang="en-US" altLang="en-US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Even distribution of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hash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Collision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46345E94-9620-4EDB-8B2A-A0CB7DAD27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1267" name="Slide Number Placeholder 4">
            <a:extLst>
              <a:ext uri="{FF2B5EF4-FFF2-40B4-BE49-F238E27FC236}">
                <a16:creationId xmlns:a16="http://schemas.microsoft.com/office/drawing/2014/main" id="{4083A5A5-A9FF-4273-8E45-CB680DB52F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A1D455-431E-4849-9CF7-027D2ABFE3F9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439298" name="Rectangle 2">
            <a:extLst>
              <a:ext uri="{FF2B5EF4-FFF2-40B4-BE49-F238E27FC236}">
                <a16:creationId xmlns:a16="http://schemas.microsoft.com/office/drawing/2014/main" id="{936E6D4C-907A-4936-B027-B185EF402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Hash Function Distribution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3B36BC0F-956E-4EF6-B6D5-7422A9B66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Should </a:t>
            </a:r>
            <a:r>
              <a:rPr lang="en-US" altLang="en-US" u="sng"/>
              <a:t>depend on all bits of the key</a:t>
            </a:r>
          </a:p>
          <a:p>
            <a:pPr lvl="1" eaLnBrk="1" hangingPunct="1"/>
            <a:r>
              <a:rPr lang="en-US" altLang="en-US"/>
              <a:t>Example: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hash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en-US" i="1">
                <a:cs typeface="Times New Roman" panose="02020603050405020304" pitchFamily="18" charset="0"/>
                <a:sym typeface="Symbol" panose="05050102010706020507" pitchFamily="18" charset="2"/>
              </a:rPr>
              <a:t>key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% 8 – only the last 3 bits of the key used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Should </a:t>
            </a:r>
            <a:r>
              <a:rPr lang="en-US" altLang="en-US" u="sng">
                <a:cs typeface="Times New Roman" panose="02020603050405020304" pitchFamily="18" charset="0"/>
                <a:sym typeface="Symbol" panose="05050102010706020507" pitchFamily="18" charset="2"/>
              </a:rPr>
              <a:t>distribute keys evenly</a:t>
            </a:r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 among slots to minimize collisions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Two possibilities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We know nothing about the distribution of keys</a:t>
            </a:r>
          </a:p>
          <a:p>
            <a:pPr lvl="2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Uniform distribution of slots</a:t>
            </a:r>
          </a:p>
          <a:p>
            <a:pPr lvl="1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We know something about the keys</a:t>
            </a:r>
          </a:p>
          <a:p>
            <a:pPr lvl="2" eaLnBrk="1" hangingPunct="1"/>
            <a:r>
              <a:rPr lang="en-US" altLang="en-US">
                <a:cs typeface="Times New Roman" panose="02020603050405020304" pitchFamily="18" charset="0"/>
                <a:sym typeface="Symbol" panose="05050102010706020507" pitchFamily="18" charset="2"/>
              </a:rPr>
              <a:t>Example:  English words rarely start with Z or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8CAB2995-0CCA-4EBF-AB8B-ECBE74FCBF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2291" name="Slide Number Placeholder 4">
            <a:extLst>
              <a:ext uri="{FF2B5EF4-FFF2-40B4-BE49-F238E27FC236}">
                <a16:creationId xmlns:a16="http://schemas.microsoft.com/office/drawing/2014/main" id="{509F7C2D-6234-425D-B58E-13761598F9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A109ED-A9FD-4777-8A39-CD8FD398EE4D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440322" name="Rectangle 2">
            <a:extLst>
              <a:ext uri="{FF2B5EF4-FFF2-40B4-BE49-F238E27FC236}">
                <a16:creationId xmlns:a16="http://schemas.microsoft.com/office/drawing/2014/main" id="{85359224-70B1-4CA1-84F9-B60E45152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Example Hash Functions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16C48A7F-28CF-4227-B0DE-20EB84618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382000" cy="3352800"/>
          </a:xfrm>
        </p:spPr>
        <p:txBody>
          <a:bodyPr/>
          <a:lstStyle/>
          <a:p>
            <a:pPr eaLnBrk="1" hangingPunct="1"/>
            <a:r>
              <a:rPr lang="en-US" altLang="en-US"/>
              <a:t>Mid-square:  square the key, then take the middle </a:t>
            </a:r>
            <a:r>
              <a:rPr lang="en-US" altLang="en-US" i="1"/>
              <a:t>r</a:t>
            </a:r>
            <a:r>
              <a:rPr lang="en-US" altLang="en-US"/>
              <a:t> bits for a table with 2</a:t>
            </a:r>
            <a:r>
              <a:rPr lang="en-US" altLang="en-US" i="1" baseline="30000"/>
              <a:t>r</a:t>
            </a:r>
            <a:r>
              <a:rPr lang="en-US" altLang="en-US"/>
              <a:t> slots</a:t>
            </a:r>
          </a:p>
          <a:p>
            <a:pPr eaLnBrk="1" hangingPunct="1"/>
            <a:r>
              <a:rPr lang="en-US" altLang="en-US"/>
              <a:t>Folding for strings</a:t>
            </a:r>
          </a:p>
          <a:p>
            <a:pPr lvl="1" eaLnBrk="1" hangingPunct="1"/>
            <a:r>
              <a:rPr lang="en-US" altLang="en-US"/>
              <a:t>Sum up the ASCII values for characters in the string</a:t>
            </a:r>
          </a:p>
          <a:p>
            <a:pPr lvl="1" eaLnBrk="1" hangingPunct="1"/>
            <a:r>
              <a:rPr lang="en-US" altLang="en-US"/>
              <a:t>Order doesn’t matter (not good)</a:t>
            </a:r>
          </a:p>
          <a:p>
            <a:pPr eaLnBrk="1" hangingPunct="1"/>
            <a:r>
              <a:rPr lang="en-US" altLang="en-US"/>
              <a:t>ELFhash</a:t>
            </a:r>
          </a:p>
        </p:txBody>
      </p:sp>
      <p:sp>
        <p:nvSpPr>
          <p:cNvPr id="12294" name="Text Box 4">
            <a:extLst>
              <a:ext uri="{FF2B5EF4-FFF2-40B4-BE49-F238E27FC236}">
                <a16:creationId xmlns:a16="http://schemas.microsoft.com/office/drawing/2014/main" id="{706ED597-0BC1-49B2-97AF-74455D19C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908425"/>
            <a:ext cx="5715000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int ELFhash(char* key)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unsigned long h = 0;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while(*key)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  h = (h &lt;&lt; 4) + *key++;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  unsigned long g = h &amp; 0xF0000000L;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  if (g) h ^= g &gt;&gt; 24;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  h &amp;= ~g;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  return h % M;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DBDE50C1-2D0A-4C07-97A4-19F2AE6616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3315" name="Slide Number Placeholder 4">
            <a:extLst>
              <a:ext uri="{FF2B5EF4-FFF2-40B4-BE49-F238E27FC236}">
                <a16:creationId xmlns:a16="http://schemas.microsoft.com/office/drawing/2014/main" id="{1C66D510-B77A-42D4-A948-C64CCDB26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58CCE1-B303-416D-BB46-A42215121C13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482306" name="Rectangle 2">
            <a:extLst>
              <a:ext uri="{FF2B5EF4-FFF2-40B4-BE49-F238E27FC236}">
                <a16:creationId xmlns:a16="http://schemas.microsoft.com/office/drawing/2014/main" id="{CE43EC09-C0F1-4589-A211-1D228EE01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Jenkins One-at-a-time Hash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E0F29DEF-E920-44C1-A380-E939C8AD4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486400"/>
            <a:ext cx="8382000" cy="762000"/>
          </a:xfrm>
        </p:spPr>
        <p:txBody>
          <a:bodyPr/>
          <a:lstStyle/>
          <a:p>
            <a:pPr eaLnBrk="1" hangingPunct="1"/>
            <a:r>
              <a:rPr lang="en-US" altLang="en-US" i="1"/>
              <a:t>What bits are affected by each operation?</a:t>
            </a: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B7A1C236-1CE9-45CD-B09A-D00883799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7125"/>
            <a:ext cx="838200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uint32 </a:t>
            </a:r>
            <a:r>
              <a:rPr lang="en-US" altLang="en-US" sz="2000" b="1">
                <a:latin typeface="Courier New" panose="02070309020205020404" pitchFamily="49" charset="0"/>
              </a:rPr>
              <a:t>joaat_hash</a:t>
            </a:r>
            <a:r>
              <a:rPr lang="en-US" altLang="en-US" sz="2000">
                <a:latin typeface="Courier New" panose="02070309020205020404" pitchFamily="49" charset="0"/>
              </a:rPr>
              <a:t>(uchar *key, size_t len)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uint32 hash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size_t i;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for (i = 0; i &lt; len; i++)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hash += key[i];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hash += (hash &lt;&lt; 10);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hash ^= (hash &gt;&gt; 6);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hash += (hash &lt;&lt; 3);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hash ^= (hash &gt;&gt; 11);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hash += (hash &lt;&lt; 15);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return hash;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11F5A7E8-EAC2-4D45-B13D-87CC37389D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CBC31C40-8A3F-407A-925E-4BC6806F30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3329F9-8859-4A33-87C9-03BF38CAF4C7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441346" name="Rectangle 2">
            <a:extLst>
              <a:ext uri="{FF2B5EF4-FFF2-40B4-BE49-F238E27FC236}">
                <a16:creationId xmlns:a16="http://schemas.microsoft.com/office/drawing/2014/main" id="{FBD00640-8487-4D51-860F-FE1C54B0B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Chaining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754DB1E7-276A-4C12-BDB1-CAC9D24AC1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143000"/>
            <a:ext cx="8226425" cy="4572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What to do when collisions occur?</a:t>
            </a: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 u="sng">
                <a:sym typeface="Symbol" panose="05050102010706020507" pitchFamily="18" charset="2"/>
              </a:rPr>
              <a:t>Chaining</a:t>
            </a:r>
            <a:r>
              <a:rPr lang="en-US" altLang="en-US">
                <a:sym typeface="Symbol" panose="05050102010706020507" pitchFamily="18" charset="2"/>
              </a:rPr>
              <a:t> treats each hash table slot as a bin.</a:t>
            </a:r>
          </a:p>
        </p:txBody>
      </p:sp>
      <p:pic>
        <p:nvPicPr>
          <p:cNvPr id="14342" name="Picture 4" descr="OpenHash">
            <a:extLst>
              <a:ext uri="{FF2B5EF4-FFF2-40B4-BE49-F238E27FC236}">
                <a16:creationId xmlns:a16="http://schemas.microsoft.com/office/drawing/2014/main" id="{9E2DEC99-E11F-4011-9E37-EC73B1C4A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" t="3452" r="3448" b="2589"/>
          <a:stretch>
            <a:fillRect/>
          </a:stretch>
        </p:blipFill>
        <p:spPr bwMode="auto">
          <a:xfrm>
            <a:off x="3657600" y="2133600"/>
            <a:ext cx="3959225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 Box 5">
            <a:extLst>
              <a:ext uri="{FF2B5EF4-FFF2-40B4-BE49-F238E27FC236}">
                <a16:creationId xmlns:a16="http://schemas.microsoft.com/office/drawing/2014/main" id="{CA3B646E-55A7-4E76-B8BB-BB39DBEBA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90800"/>
            <a:ext cx="2971800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/>
              <a:t>We hope to have </a:t>
            </a:r>
            <a:r>
              <a:rPr lang="en-US" altLang="en-US" sz="2400" i="1"/>
              <a:t>n</a:t>
            </a:r>
            <a:r>
              <a:rPr lang="en-US" altLang="en-US" sz="2400"/>
              <a:t>/</a:t>
            </a:r>
            <a:r>
              <a:rPr lang="en-US" altLang="en-US" sz="2400" i="1"/>
              <a:t>N</a:t>
            </a:r>
            <a:r>
              <a:rPr lang="en-US" altLang="en-US" sz="2400"/>
              <a:t> elements in each list.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400"/>
              <a:t>Effective for a hash in memory, but difficult to implement efficiently on disk.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BA53B195-DADD-42CE-B4B3-1B5011CB55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id="{67E348AA-2EB0-457F-9F62-1BA2574423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09C814-6E18-4113-8F3E-3D9D9B22AD06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443394" name="Rectangle 2">
            <a:extLst>
              <a:ext uri="{FF2B5EF4-FFF2-40B4-BE49-F238E27FC236}">
                <a16:creationId xmlns:a16="http://schemas.microsoft.com/office/drawing/2014/main" id="{529A7D37-851A-45C1-9BF8-D0B59AE7F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Bucket Hashing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CA4802C6-CFBF-44F3-9EF4-674ADF595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Divide hash table slots into buckets</a:t>
            </a:r>
          </a:p>
          <a:p>
            <a:pPr lvl="1" eaLnBrk="1" hangingPunct="1"/>
            <a:r>
              <a:rPr lang="en-US" altLang="en-US"/>
              <a:t>Example, 8 slots per bucket</a:t>
            </a:r>
          </a:p>
          <a:p>
            <a:pPr lvl="1" eaLnBrk="1" hangingPunct="1"/>
            <a:r>
              <a:rPr lang="en-US" altLang="en-US"/>
              <a:t>Hash function maps to buckets</a:t>
            </a:r>
          </a:p>
          <a:p>
            <a:pPr eaLnBrk="1" hangingPunct="1"/>
            <a:r>
              <a:rPr lang="en-US" altLang="en-US"/>
              <a:t>Global overflow bucket</a:t>
            </a:r>
          </a:p>
          <a:p>
            <a:pPr eaLnBrk="1" hangingPunct="1"/>
            <a:r>
              <a:rPr lang="en-US" altLang="en-US"/>
              <a:t>Becomes inefficient when</a:t>
            </a:r>
            <a:br>
              <a:rPr lang="en-US" altLang="en-US"/>
            </a:br>
            <a:r>
              <a:rPr lang="en-US" altLang="en-US"/>
              <a:t>overflow bucket is very full</a:t>
            </a:r>
          </a:p>
          <a:p>
            <a:pPr eaLnBrk="1" hangingPunct="1"/>
            <a:r>
              <a:rPr lang="en-US" altLang="en-US"/>
              <a:t>Variation:  map to home slot</a:t>
            </a:r>
            <a:br>
              <a:rPr lang="en-US" altLang="en-US"/>
            </a:br>
            <a:r>
              <a:rPr lang="en-US" altLang="en-US"/>
              <a:t>as though no bucketing, then</a:t>
            </a:r>
            <a:br>
              <a:rPr lang="en-US" altLang="en-US"/>
            </a:br>
            <a:r>
              <a:rPr lang="en-US" altLang="en-US"/>
              <a:t>check the rest of the bucket</a:t>
            </a:r>
          </a:p>
        </p:txBody>
      </p:sp>
      <p:grpSp>
        <p:nvGrpSpPr>
          <p:cNvPr id="16390" name="Group 30">
            <a:extLst>
              <a:ext uri="{FF2B5EF4-FFF2-40B4-BE49-F238E27FC236}">
                <a16:creationId xmlns:a16="http://schemas.microsoft.com/office/drawing/2014/main" id="{5AB5BEF0-A218-4F48-9CDC-C4CCC64A3F1B}"/>
              </a:ext>
            </a:extLst>
          </p:cNvPr>
          <p:cNvGrpSpPr>
            <a:grpSpLocks/>
          </p:cNvGrpSpPr>
          <p:nvPr/>
        </p:nvGrpSpPr>
        <p:grpSpPr bwMode="auto">
          <a:xfrm>
            <a:off x="6292850" y="1295400"/>
            <a:ext cx="1403350" cy="4511675"/>
            <a:chOff x="3868" y="854"/>
            <a:chExt cx="884" cy="2842"/>
          </a:xfrm>
        </p:grpSpPr>
        <p:sp>
          <p:nvSpPr>
            <p:cNvPr id="16397" name="Rectangle 6">
              <a:extLst>
                <a:ext uri="{FF2B5EF4-FFF2-40B4-BE49-F238E27FC236}">
                  <a16:creationId xmlns:a16="http://schemas.microsoft.com/office/drawing/2014/main" id="{782179AA-23E4-48E5-98F5-400B958B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29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1000</a:t>
              </a:r>
            </a:p>
          </p:txBody>
        </p:sp>
        <p:sp>
          <p:nvSpPr>
            <p:cNvPr id="16398" name="Rectangle 7">
              <a:extLst>
                <a:ext uri="{FF2B5EF4-FFF2-40B4-BE49-F238E27FC236}">
                  <a16:creationId xmlns:a16="http://schemas.microsoft.com/office/drawing/2014/main" id="{5C23C809-078C-4009-B9E5-4FB7CCB49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53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9530</a:t>
              </a:r>
            </a:p>
          </p:txBody>
        </p:sp>
        <p:sp>
          <p:nvSpPr>
            <p:cNvPr id="16399" name="Rectangle 8">
              <a:extLst>
                <a:ext uri="{FF2B5EF4-FFF2-40B4-BE49-F238E27FC236}">
                  <a16:creationId xmlns:a16="http://schemas.microsoft.com/office/drawing/2014/main" id="{AB9A5631-BCF9-4610-B711-183AAA938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77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16400" name="Rectangle 9">
              <a:extLst>
                <a:ext uri="{FF2B5EF4-FFF2-40B4-BE49-F238E27FC236}">
                  <a16:creationId xmlns:a16="http://schemas.microsoft.com/office/drawing/2014/main" id="{54308724-AD38-4F08-A0EA-2B2A568C9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25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9877</a:t>
              </a:r>
            </a:p>
          </p:txBody>
        </p:sp>
        <p:sp>
          <p:nvSpPr>
            <p:cNvPr id="16401" name="Rectangle 10">
              <a:extLst>
                <a:ext uri="{FF2B5EF4-FFF2-40B4-BE49-F238E27FC236}">
                  <a16:creationId xmlns:a16="http://schemas.microsoft.com/office/drawing/2014/main" id="{0E2345F3-22D6-4464-80D6-291A7D846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9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2007</a:t>
              </a:r>
            </a:p>
          </p:txBody>
        </p:sp>
        <p:sp>
          <p:nvSpPr>
            <p:cNvPr id="16402" name="Rectangle 11">
              <a:extLst>
                <a:ext uri="{FF2B5EF4-FFF2-40B4-BE49-F238E27FC236}">
                  <a16:creationId xmlns:a16="http://schemas.microsoft.com/office/drawing/2014/main" id="{A5A61DF1-C40F-44B3-8096-AD7C3F4C8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3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3013</a:t>
              </a:r>
            </a:p>
          </p:txBody>
        </p:sp>
        <p:sp>
          <p:nvSpPr>
            <p:cNvPr id="16403" name="Rectangle 12">
              <a:extLst>
                <a:ext uri="{FF2B5EF4-FFF2-40B4-BE49-F238E27FC236}">
                  <a16:creationId xmlns:a16="http://schemas.microsoft.com/office/drawing/2014/main" id="{8B19316E-555A-4955-ACCE-F0577C911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97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16404" name="Rectangle 13">
              <a:extLst>
                <a:ext uri="{FF2B5EF4-FFF2-40B4-BE49-F238E27FC236}">
                  <a16:creationId xmlns:a16="http://schemas.microsoft.com/office/drawing/2014/main" id="{14E78C4A-0058-49E8-B2E2-E1636F1DD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21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9879</a:t>
              </a:r>
            </a:p>
          </p:txBody>
        </p:sp>
        <p:sp>
          <p:nvSpPr>
            <p:cNvPr id="16405" name="Rectangle 14">
              <a:extLst>
                <a:ext uri="{FF2B5EF4-FFF2-40B4-BE49-F238E27FC236}">
                  <a16:creationId xmlns:a16="http://schemas.microsoft.com/office/drawing/2014/main" id="{296841C1-70E3-43E1-90EA-77EF1486E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45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16406" name="Rectangle 15">
              <a:extLst>
                <a:ext uri="{FF2B5EF4-FFF2-40B4-BE49-F238E27FC236}">
                  <a16:creationId xmlns:a16="http://schemas.microsoft.com/office/drawing/2014/main" id="{05C83A81-BB16-40E2-BE97-6F8B1436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01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16407" name="Text Box 16">
              <a:extLst>
                <a:ext uri="{FF2B5EF4-FFF2-40B4-BE49-F238E27FC236}">
                  <a16:creationId xmlns:a16="http://schemas.microsoft.com/office/drawing/2014/main" id="{6BB81AD0-A8B9-4069-ADF7-D1EE0DA3D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27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16408" name="Text Box 17">
              <a:extLst>
                <a:ext uri="{FF2B5EF4-FFF2-40B4-BE49-F238E27FC236}">
                  <a16:creationId xmlns:a16="http://schemas.microsoft.com/office/drawing/2014/main" id="{4029C135-5349-4C65-B9BE-AE92DDECE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7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1</a:t>
              </a:r>
            </a:p>
          </p:txBody>
        </p:sp>
        <p:sp>
          <p:nvSpPr>
            <p:cNvPr id="16409" name="Text Box 18">
              <a:extLst>
                <a:ext uri="{FF2B5EF4-FFF2-40B4-BE49-F238E27FC236}">
                  <a16:creationId xmlns:a16="http://schemas.microsoft.com/office/drawing/2014/main" id="{A4761818-6063-4938-A923-35ADC5457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2</a:t>
              </a:r>
            </a:p>
          </p:txBody>
        </p:sp>
        <p:sp>
          <p:nvSpPr>
            <p:cNvPr id="16410" name="Text Box 19">
              <a:extLst>
                <a:ext uri="{FF2B5EF4-FFF2-40B4-BE49-F238E27FC236}">
                  <a16:creationId xmlns:a16="http://schemas.microsoft.com/office/drawing/2014/main" id="{12E6A831-3D0E-4318-8164-7951A93E7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3</a:t>
              </a:r>
            </a:p>
          </p:txBody>
        </p:sp>
        <p:sp>
          <p:nvSpPr>
            <p:cNvPr id="16411" name="Text Box 20">
              <a:extLst>
                <a:ext uri="{FF2B5EF4-FFF2-40B4-BE49-F238E27FC236}">
                  <a16:creationId xmlns:a16="http://schemas.microsoft.com/office/drawing/2014/main" id="{0635B7FA-F1D4-4A31-B9F9-F8DD9788B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4</a:t>
              </a:r>
            </a:p>
          </p:txBody>
        </p:sp>
        <p:sp>
          <p:nvSpPr>
            <p:cNvPr id="16412" name="Text Box 21">
              <a:extLst>
                <a:ext uri="{FF2B5EF4-FFF2-40B4-BE49-F238E27FC236}">
                  <a16:creationId xmlns:a16="http://schemas.microsoft.com/office/drawing/2014/main" id="{12048885-66F3-4AB4-AE91-BC18765676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854"/>
              <a:ext cx="64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/>
                <a:t>Hash Table</a:t>
              </a:r>
            </a:p>
          </p:txBody>
        </p:sp>
      </p:grpSp>
      <p:grpSp>
        <p:nvGrpSpPr>
          <p:cNvPr id="16391" name="Group 31">
            <a:extLst>
              <a:ext uri="{FF2B5EF4-FFF2-40B4-BE49-F238E27FC236}">
                <a16:creationId xmlns:a16="http://schemas.microsoft.com/office/drawing/2014/main" id="{EF584E57-D69C-4D96-981E-4A79624333A7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600200"/>
            <a:ext cx="1219200" cy="1539875"/>
            <a:chOff x="4800" y="1046"/>
            <a:chExt cx="768" cy="970"/>
          </a:xfrm>
        </p:grpSpPr>
        <p:sp>
          <p:nvSpPr>
            <p:cNvPr id="16392" name="Rectangle 22">
              <a:extLst>
                <a:ext uri="{FF2B5EF4-FFF2-40B4-BE49-F238E27FC236}">
                  <a16:creationId xmlns:a16="http://schemas.microsoft.com/office/drawing/2014/main" id="{D6D16AE8-0B26-4E54-B1B8-E3CCB6C27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29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/>
                <a:t>1057</a:t>
              </a:r>
            </a:p>
          </p:txBody>
        </p:sp>
        <p:sp>
          <p:nvSpPr>
            <p:cNvPr id="16393" name="Rectangle 23">
              <a:extLst>
                <a:ext uri="{FF2B5EF4-FFF2-40B4-BE49-F238E27FC236}">
                  <a16:creationId xmlns:a16="http://schemas.microsoft.com/office/drawing/2014/main" id="{9D43ED8A-4519-43EF-AB2F-1ECB3C11A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536"/>
              <a:ext cx="52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/>
            </a:p>
          </p:txBody>
        </p:sp>
        <p:sp>
          <p:nvSpPr>
            <p:cNvPr id="16394" name="Text Box 27">
              <a:extLst>
                <a:ext uri="{FF2B5EF4-FFF2-40B4-BE49-F238E27FC236}">
                  <a16:creationId xmlns:a16="http://schemas.microsoft.com/office/drawing/2014/main" id="{5A937001-2F3D-4521-A221-2113D440C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04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777777"/>
                </a:buClr>
                <a:buFont typeface="Symbol" panose="05050102010706020507" pitchFamily="18" charset="2"/>
                <a:buChar char="·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SzPct val="65000"/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/>
                <a:t>Overflow</a:t>
              </a:r>
            </a:p>
          </p:txBody>
        </p:sp>
        <p:sp>
          <p:nvSpPr>
            <p:cNvPr id="16395" name="Line 28">
              <a:extLst>
                <a:ext uri="{FF2B5EF4-FFF2-40B4-BE49-F238E27FC236}">
                  <a16:creationId xmlns:a16="http://schemas.microsoft.com/office/drawing/2014/main" id="{A30BCA94-ABD0-4CA8-BBCB-DC06B5625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7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Line 29">
              <a:extLst>
                <a:ext uri="{FF2B5EF4-FFF2-40B4-BE49-F238E27FC236}">
                  <a16:creationId xmlns:a16="http://schemas.microsoft.com/office/drawing/2014/main" id="{EC84AD55-6DE7-4AAF-9555-D79180753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7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0F4EB454-187D-40A3-91BB-B55EB08036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FD4854A9-EF4D-42F7-9A6B-D2AA555B21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0AF3EF-5725-4928-AEDD-8AEBC2D37C66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4A8E269D-DE79-496E-BB5D-687E3C362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Open Addressing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18670958-511F-4AB0-89FF-BC2EB0384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383587" cy="4572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 u="sng">
                <a:sym typeface="Symbol" panose="05050102010706020507" pitchFamily="18" charset="2"/>
              </a:rPr>
              <a:t>Open addressing</a:t>
            </a:r>
            <a:r>
              <a:rPr lang="en-US" altLang="en-US" sz="2800">
                <a:sym typeface="Symbol" panose="05050102010706020507" pitchFamily="18" charset="2"/>
              </a:rPr>
              <a:t> stores all records directly in the hash table.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altLang="en-US" sz="2400">
                <a:sym typeface="Symbol" panose="05050102010706020507" pitchFamily="18" charset="2"/>
              </a:rPr>
              <a:t>Bucket hashing is a type of closed hasing</a:t>
            </a:r>
          </a:p>
          <a:p>
            <a:pPr marL="609600" indent="-609600" eaLnBrk="1" hangingPunct="1">
              <a:lnSpc>
                <a:spcPct val="10000"/>
              </a:lnSpc>
            </a:pPr>
            <a:endParaRPr lang="en-US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>
                <a:sym typeface="Symbol" panose="05050102010706020507" pitchFamily="18" charset="2"/>
              </a:rPr>
              <a:t>Each record </a:t>
            </a:r>
            <a:r>
              <a:rPr lang="en-US" altLang="en-US" sz="2800" i="1">
                <a:sym typeface="Symbol" panose="05050102010706020507" pitchFamily="18" charset="2"/>
              </a:rPr>
              <a:t>i</a:t>
            </a:r>
            <a:r>
              <a:rPr lang="en-US" altLang="en-US" sz="2800">
                <a:sym typeface="Symbol" panose="05050102010706020507" pitchFamily="18" charset="2"/>
              </a:rPr>
              <a:t> has a home position </a:t>
            </a:r>
            <a:r>
              <a:rPr lang="en-US" altLang="en-US" sz="2800" b="1" i="1">
                <a:sym typeface="Symbol" panose="05050102010706020507" pitchFamily="18" charset="2"/>
              </a:rPr>
              <a:t>hash</a:t>
            </a:r>
            <a:r>
              <a:rPr lang="en-US" altLang="en-US" sz="2800">
                <a:sym typeface="Symbol" panose="05050102010706020507" pitchFamily="18" charset="2"/>
              </a:rPr>
              <a:t>(</a:t>
            </a:r>
            <a:r>
              <a:rPr lang="en-US" altLang="en-US" sz="2800" i="1">
                <a:sym typeface="Symbol" panose="05050102010706020507" pitchFamily="18" charset="2"/>
              </a:rPr>
              <a:t>key</a:t>
            </a:r>
            <a:r>
              <a:rPr lang="en-US" altLang="en-US" sz="2800" i="1" baseline="-25000">
                <a:sym typeface="Symbol" panose="05050102010706020507" pitchFamily="18" charset="2"/>
              </a:rPr>
              <a:t>i</a:t>
            </a:r>
            <a:r>
              <a:rPr lang="en-US" altLang="en-US" sz="2800">
                <a:sym typeface="Symbol" panose="05050102010706020507" pitchFamily="18" charset="2"/>
              </a:rPr>
              <a:t>).</a:t>
            </a:r>
          </a:p>
          <a:p>
            <a:pPr marL="609600" indent="-609600" eaLnBrk="1" hangingPunct="1">
              <a:lnSpc>
                <a:spcPct val="20000"/>
              </a:lnSpc>
            </a:pPr>
            <a:endParaRPr lang="en-US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>
                <a:sym typeface="Symbol" panose="05050102010706020507" pitchFamily="18" charset="2"/>
              </a:rPr>
              <a:t>If another record occupies </a:t>
            </a:r>
            <a:r>
              <a:rPr lang="en-US" altLang="en-US" sz="2800" i="1">
                <a:sym typeface="Symbol" panose="05050102010706020507" pitchFamily="18" charset="2"/>
              </a:rPr>
              <a:t>i</a:t>
            </a:r>
            <a:r>
              <a:rPr lang="en-US" altLang="en-US" sz="2800">
                <a:sym typeface="Symbol" panose="05050102010706020507" pitchFamily="18" charset="2"/>
              </a:rPr>
              <a:t>’s home position, then another slot must be found to store </a:t>
            </a:r>
            <a:r>
              <a:rPr lang="en-US" altLang="en-US" sz="2800" i="1">
                <a:sym typeface="Symbol" panose="05050102010706020507" pitchFamily="18" charset="2"/>
              </a:rPr>
              <a:t>i</a:t>
            </a:r>
            <a:r>
              <a:rPr lang="en-US" altLang="en-US" sz="2800">
                <a:sym typeface="Symbol" panose="05050102010706020507" pitchFamily="18" charset="2"/>
              </a:rPr>
              <a:t>.</a:t>
            </a:r>
          </a:p>
          <a:p>
            <a:pPr marL="609600" indent="-609600" eaLnBrk="1" hangingPunct="1">
              <a:lnSpc>
                <a:spcPct val="20000"/>
              </a:lnSpc>
            </a:pPr>
            <a:endParaRPr lang="en-US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>
                <a:sym typeface="Symbol" panose="05050102010706020507" pitchFamily="18" charset="2"/>
              </a:rPr>
              <a:t>The new slot is found by a </a:t>
            </a:r>
            <a:r>
              <a:rPr lang="en-US" altLang="en-US" sz="2800" u="sng">
                <a:sym typeface="Symbol" panose="05050102010706020507" pitchFamily="18" charset="2"/>
              </a:rPr>
              <a:t>collision resolution policy</a:t>
            </a:r>
            <a:r>
              <a:rPr lang="en-US" altLang="en-US" sz="2800">
                <a:sym typeface="Symbol" panose="05050102010706020507" pitchFamily="18" charset="2"/>
              </a:rPr>
              <a:t>.</a:t>
            </a:r>
          </a:p>
          <a:p>
            <a:pPr marL="609600" indent="-609600" eaLnBrk="1" hangingPunct="1">
              <a:lnSpc>
                <a:spcPct val="20000"/>
              </a:lnSpc>
            </a:pPr>
            <a:endParaRPr lang="en-US" altLang="en-US" sz="280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>
                <a:sym typeface="Symbol" panose="05050102010706020507" pitchFamily="18" charset="2"/>
              </a:rPr>
              <a:t>Search must follow the same policy to find records not in their home slots.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CCD30035-64F5-43EE-8E81-CBC572BFBA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19459" name="Slide Number Placeholder 4">
            <a:extLst>
              <a:ext uri="{FF2B5EF4-FFF2-40B4-BE49-F238E27FC236}">
                <a16:creationId xmlns:a16="http://schemas.microsoft.com/office/drawing/2014/main" id="{B78C89C3-C97C-4C44-BD1C-059CD8F30A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B6E9B9-E5B3-496F-9FF7-7CFAE1D65E51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446466" name="Rectangle 2">
            <a:extLst>
              <a:ext uri="{FF2B5EF4-FFF2-40B4-BE49-F238E27FC236}">
                <a16:creationId xmlns:a16="http://schemas.microsoft.com/office/drawing/2014/main" id="{411BB2A9-7B14-4F5C-BA60-1920A6690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Collision Resolution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1718A47C-E983-4E98-B7F3-87D389938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371600"/>
            <a:ext cx="8226425" cy="4572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During insertion, the goal of collision resolution is to find a free slot in the table.</a:t>
            </a:r>
          </a:p>
          <a:p>
            <a:pPr marL="609600" indent="-609600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Probe sequence</a:t>
            </a:r>
            <a:r>
              <a:rPr lang="en-US" altLang="en-US">
                <a:sym typeface="Symbol" panose="05050102010706020507" pitchFamily="18" charset="2"/>
              </a:rPr>
              <a:t>: The series of slots visited during insert/search by following a collision resolution policy.</a:t>
            </a:r>
          </a:p>
          <a:p>
            <a:pPr marL="609600" indent="-609600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Let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 baseline="-2500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hash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latin typeface="Helvetica" panose="020B0604020202020204" pitchFamily="34" charset="0"/>
                <a:sym typeface="Symbol" panose="05050102010706020507" pitchFamily="18" charset="2"/>
              </a:rPr>
              <a:t>key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>
                <a:sym typeface="Symbol" panose="05050102010706020507" pitchFamily="18" charset="2"/>
              </a:rPr>
              <a:t>.  Let 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 baseline="-25000">
                <a:latin typeface="Helvetica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en-US" baseline="-25000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, …) </a:t>
            </a:r>
            <a:r>
              <a:rPr lang="en-US" altLang="en-US">
                <a:sym typeface="Symbol" panose="05050102010706020507" pitchFamily="18" charset="2"/>
              </a:rPr>
              <a:t>be the series of slots making up the probe sequence.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7BA617EF-F1C4-45AD-A70E-AC9E5563F9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03DAE4D5-E150-4032-A7DD-FD71B8B08F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43EAB4-6F66-45EA-9F5F-F8EB196C0371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985C8110-64D5-4CF4-A11A-4D34CA9A8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Linear Probing: Insertion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7BE82282-DC21-480D-A3B9-4C668870B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069975"/>
            <a:ext cx="8343900" cy="5170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HashInsert(hashTable, item)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Hash function determines initial bucket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 = Hash(item.key)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bucketsProbed = 0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 = hashTable's size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(bucketsProbed &lt; N)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Insert item in next empty bucket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(hashTable[bucket] is Empty)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hashTable[bucket] = item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true }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Increment bucket index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bucket = (bucket + 1) % N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Increment number of buckets probed</a:t>
            </a:r>
            <a:b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++bucketsProbed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false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0395-D875-498B-B02D-1200F5C3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Linear Probing Removal:  Tombstones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B9C98832-2DB6-4073-8913-C8D0160AE0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1A715C2A-C0A2-454A-BB94-6D1CC42E0E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51FFD9-BEB8-4514-AE63-6F8E41F75343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3557" name="Rectangle 1">
            <a:extLst>
              <a:ext uri="{FF2B5EF4-FFF2-40B4-BE49-F238E27FC236}">
                <a16:creationId xmlns:a16="http://schemas.microsoft.com/office/drawing/2014/main" id="{02BF771E-68A0-46FC-AD05-82A48BB27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1157288"/>
            <a:ext cx="8382000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HashRemove(hashTable, key)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Hash function determines initial bucket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 = Hash(key)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bucketsProbed =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((hashTable[bucket] is not 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EmptySinceStart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and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(bucketsProbed &lt; N))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((hashTable[bucket] is not Empty) and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(hashTable[bucket]⇢key == key))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hashTable[bucket] = 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EmptyAfterRemoval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Tombstone!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Increment bucket index</a:t>
            </a:r>
            <a:b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bucket = (bucket + 1) % 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Increment number of buckets probed</a:t>
            </a:r>
            <a:b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++bucketsProbed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772ACCCA-3BEF-44D3-86A3-506C78BA8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DC40B16E-D68D-4C07-AEDB-0ADC85F3C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6B5469-B357-4DFB-BC93-FEB07B861FB6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450562" name="Rectangle 2">
            <a:extLst>
              <a:ext uri="{FF2B5EF4-FFF2-40B4-BE49-F238E27FC236}">
                <a16:creationId xmlns:a16="http://schemas.microsoft.com/office/drawing/2014/main" id="{E68AF0AF-5A60-4302-8F91-FA2295AA1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Linear Probing: Search</a:t>
            </a: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C72C4EB5-CC90-4424-83A7-D6326AE04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1295400"/>
            <a:ext cx="8382000" cy="4924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HashSearch(hashTable, key)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Hash function determines initial bucket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 = Hash(key)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bucketsProbed = 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 ((hashTable[bucket] is not EmptySinceStart) and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(bucketsProbed &lt; N))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((hashTable[bucket] is not Empty) and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(hashTable[bucket]⇢key == key))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hashTable[bucket]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Increment bucket index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bucket = (bucket + 1) % 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i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Increment number of buckets probed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++bucketsProbed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null // Item not found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F2542591-92D2-419E-B6A3-26D903181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3F974E84-7368-42CE-A39D-5944DF40DE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0F4834-EEC3-42C9-8C60-9CA8482493D7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456706" name="Rectangle 2">
            <a:extLst>
              <a:ext uri="{FF2B5EF4-FFF2-40B4-BE49-F238E27FC236}">
                <a16:creationId xmlns:a16="http://schemas.microsoft.com/office/drawing/2014/main" id="{8E7C74BD-869C-4888-8D83-C6834C359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Linear Probing Example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F772B296-25B9-40D0-B471-B88C80897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4268787" cy="4572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 u="sng">
                <a:sym typeface="Symbol" panose="05050102010706020507" pitchFamily="18" charset="2"/>
              </a:rPr>
              <a:t>Primary Clustering</a:t>
            </a:r>
            <a:r>
              <a:rPr lang="en-US" altLang="en-US">
                <a:sym typeface="Symbol" panose="05050102010706020507" pitchFamily="18" charset="2"/>
              </a:rPr>
              <a:t>: Records tend to cluster in the table under linear probing since the </a:t>
            </a:r>
            <a:r>
              <a:rPr lang="en-US" altLang="en-US" i="1" u="sng">
                <a:sym typeface="Symbol" panose="05050102010706020507" pitchFamily="18" charset="2"/>
              </a:rPr>
              <a:t>probabilities</a:t>
            </a:r>
            <a:r>
              <a:rPr lang="en-US" altLang="en-US" u="sng">
                <a:sym typeface="Symbol" panose="05050102010706020507" pitchFamily="18" charset="2"/>
              </a:rPr>
              <a:t> for which slot to use next</a:t>
            </a:r>
            <a:r>
              <a:rPr lang="en-US" altLang="en-US">
                <a:sym typeface="Symbol" panose="05050102010706020507" pitchFamily="18" charset="2"/>
              </a:rPr>
              <a:t> are not the same for all slots.</a:t>
            </a:r>
          </a:p>
        </p:txBody>
      </p:sp>
      <p:pic>
        <p:nvPicPr>
          <p:cNvPr id="26630" name="Picture 4" descr="LinProbe">
            <a:extLst>
              <a:ext uri="{FF2B5EF4-FFF2-40B4-BE49-F238E27FC236}">
                <a16:creationId xmlns:a16="http://schemas.microsoft.com/office/drawing/2014/main" id="{6F81BB6A-7262-4724-8452-BD4E9E0DD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8" t="3711" r="1869" b="742"/>
          <a:stretch>
            <a:fillRect/>
          </a:stretch>
        </p:blipFill>
        <p:spPr bwMode="auto">
          <a:xfrm>
            <a:off x="4876800" y="1447800"/>
            <a:ext cx="37052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Text Box 5">
            <a:extLst>
              <a:ext uri="{FF2B5EF4-FFF2-40B4-BE49-F238E27FC236}">
                <a16:creationId xmlns:a16="http://schemas.microsoft.com/office/drawing/2014/main" id="{14A31B0A-3FBE-4B95-B624-C0BD08835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5375275"/>
            <a:ext cx="3444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i="1"/>
              <a:t>Ideally: equal probability for each slot at all times.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3F34972D-822A-4F73-86CD-F7E022F0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7ECBD22A-A6E6-436B-857F-83F558FA3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253F012-3350-4AF9-A0DE-D706B0512742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62850" name="Rectangle 2">
            <a:extLst>
              <a:ext uri="{FF2B5EF4-FFF2-40B4-BE49-F238E27FC236}">
                <a16:creationId xmlns:a16="http://schemas.microsoft.com/office/drawing/2014/main" id="{DCAA198A-03EA-4DC3-A143-A70493A2F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Quadratic probing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6720841B-DA25-4B99-BDD1-F59097BBFA9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2"/>
            <a:stretch>
              <a:fillRect l="-1964" t="-1972" b="-556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23F47FFE-8616-4235-AC4E-5D45D9E792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1F129F0B-6DF9-48FD-9B27-0197253869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4504B0-436D-4574-BF6B-A3D50F7BA084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42E5DD10-DE8D-4F63-B423-EF7A366E6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Pseudo-random Probing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5C8BD088-E9CE-47E0-890F-7FBEECCCE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Ideally, for any two keys, </a:t>
            </a:r>
            <a:r>
              <a:rPr lang="en-US" altLang="en-US" i="1"/>
              <a:t>k</a:t>
            </a:r>
            <a:r>
              <a:rPr lang="en-US" altLang="en-US" baseline="-25000"/>
              <a:t>1</a:t>
            </a:r>
            <a:r>
              <a:rPr lang="en-US" altLang="en-US"/>
              <a:t> and </a:t>
            </a:r>
            <a:r>
              <a:rPr lang="en-US" altLang="en-US" i="1"/>
              <a:t>k</a:t>
            </a:r>
            <a:r>
              <a:rPr lang="en-US" altLang="en-US" baseline="-25000"/>
              <a:t>2</a:t>
            </a:r>
            <a:r>
              <a:rPr lang="en-US" altLang="en-US"/>
              <a:t>, the probe sequences should diverge.</a:t>
            </a:r>
          </a:p>
          <a:p>
            <a:pPr eaLnBrk="1" hangingPunct="1"/>
            <a:r>
              <a:rPr lang="en-US" altLang="en-US"/>
              <a:t>An ideal probe function would select the next value in the probe sequence at random.</a:t>
            </a:r>
          </a:p>
          <a:p>
            <a:pPr lvl="1" eaLnBrk="1" hangingPunct="1"/>
            <a:r>
              <a:rPr lang="en-US" altLang="en-US" i="1"/>
              <a:t>Why can’t we do this?</a:t>
            </a:r>
          </a:p>
          <a:p>
            <a:pPr eaLnBrk="1" hangingPunct="1"/>
            <a:r>
              <a:rPr lang="en-US" altLang="en-US"/>
              <a:t>Select a random permutation of the numbers from 1 to </a:t>
            </a:r>
            <a:r>
              <a:rPr lang="en-US" altLang="en-US" i="1"/>
              <a:t>N</a:t>
            </a:r>
            <a:r>
              <a:rPr lang="en-US" altLang="en-US">
                <a:sym typeface="Symbol" panose="05050102010706020507" pitchFamily="18" charset="2"/>
              </a:rPr>
              <a:t>1: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>
                <a:sym typeface="Symbol" panose="05050102010706020507" pitchFamily="18" charset="2"/>
              </a:rPr>
              <a:t>Perm</a:t>
            </a:r>
            <a:r>
              <a:rPr lang="en-US" altLang="en-US" i="1">
                <a:sym typeface="Symbol" panose="05050102010706020507" pitchFamily="18" charset="2"/>
              </a:rPr>
              <a:t> = </a:t>
            </a:r>
            <a:r>
              <a:rPr lang="en-US" altLang="en-US">
                <a:sym typeface="Symbol" panose="05050102010706020507" pitchFamily="18" charset="2"/>
              </a:rPr>
              <a:t>[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3</a:t>
            </a:r>
            <a:r>
              <a:rPr lang="en-US" altLang="en-US">
                <a:sym typeface="Symbol" panose="05050102010706020507" pitchFamily="18" charset="2"/>
              </a:rPr>
              <a:t>, …,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i="1" baseline="-25000">
                <a:sym typeface="Symbol" panose="05050102010706020507" pitchFamily="18" charset="2"/>
              </a:rPr>
              <a:t>M</a:t>
            </a:r>
            <a:r>
              <a:rPr lang="en-US" altLang="en-US" baseline="-25000">
                <a:sym typeface="Symbol" panose="05050102010706020507" pitchFamily="18" charset="2"/>
              </a:rPr>
              <a:t>-1</a:t>
            </a:r>
            <a:r>
              <a:rPr lang="en-US" altLang="en-US">
                <a:sym typeface="Symbol" panose="05050102010706020507" pitchFamily="18" charset="2"/>
              </a:rPr>
              <a:t>]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sym typeface="Symbol" panose="05050102010706020507" pitchFamily="18" charset="2"/>
              </a:rPr>
              <a:t>p(K, i) = Perm[i-1];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B566BA8-EC1B-4FB0-892E-9D26523D91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D9B14B3C-C060-4288-827D-5291E2F160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008575-7C39-4ABD-ADE3-A2A6CC763E27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61826" name="Rectangle 2">
            <a:extLst>
              <a:ext uri="{FF2B5EF4-FFF2-40B4-BE49-F238E27FC236}">
                <a16:creationId xmlns:a16="http://schemas.microsoft.com/office/drawing/2014/main" id="{4F1E3E00-C2DA-43FF-B068-0BBCA5A8A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Pseudo-random probe example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4E52A1F4-FE47-41A7-98B2-E6A608D29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Example: Hash table size of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= 101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Perm</a:t>
            </a:r>
            <a:r>
              <a:rPr lang="en-US" altLang="en-US" i="1">
                <a:sym typeface="Symbol" panose="05050102010706020507" pitchFamily="18" charset="2"/>
              </a:rPr>
              <a:t> = </a:t>
            </a:r>
            <a:r>
              <a:rPr lang="en-US" altLang="en-US">
                <a:sym typeface="Symbol" panose="05050102010706020507" pitchFamily="18" charset="2"/>
              </a:rPr>
              <a:t>[2, 5, 32, …]</a:t>
            </a:r>
          </a:p>
          <a:p>
            <a:pPr lvl="1" eaLnBrk="1" hangingPunct="1"/>
            <a:r>
              <a:rPr lang="en-US" altLang="en-US" b="1" i="1">
                <a:sym typeface="Symbol" panose="05050102010706020507" pitchFamily="18" charset="2"/>
              </a:rPr>
              <a:t>h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k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)=30, </a:t>
            </a:r>
            <a:r>
              <a:rPr lang="en-US" altLang="en-US" b="1" i="1">
                <a:sym typeface="Symbol" panose="05050102010706020507" pitchFamily="18" charset="2"/>
              </a:rPr>
              <a:t>h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k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)=28.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Probe sequence for </a:t>
            </a:r>
            <a:r>
              <a:rPr lang="en-US" altLang="en-US" i="1">
                <a:sym typeface="Symbol" panose="05050102010706020507" pitchFamily="18" charset="2"/>
              </a:rPr>
              <a:t>k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: 30, 32, 35, 62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Probe sequence for </a:t>
            </a:r>
            <a:r>
              <a:rPr lang="en-US" altLang="en-US" i="1">
                <a:sym typeface="Symbol" panose="05050102010706020507" pitchFamily="18" charset="2"/>
              </a:rPr>
              <a:t>k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: 28, 30, 33, 60</a:t>
            </a:r>
          </a:p>
          <a:p>
            <a:pPr lvl="1" eaLnBrk="1" hangingPunct="1"/>
            <a:r>
              <a:rPr lang="en-US" altLang="en-US" i="1">
                <a:sym typeface="Symbol" panose="05050102010706020507" pitchFamily="18" charset="2"/>
              </a:rPr>
              <a:t>Although they temporarily converge, they quickly diverge again afterwards</a:t>
            </a:r>
          </a:p>
          <a:p>
            <a:pPr eaLnBrk="1" hangingPunct="1"/>
            <a:endParaRPr lang="en-US" altLang="en-US"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E614CFC6-18BB-447A-992A-F7FEAD0497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1747" name="Slide Number Placeholder 4">
            <a:extLst>
              <a:ext uri="{FF2B5EF4-FFF2-40B4-BE49-F238E27FC236}">
                <a16:creationId xmlns:a16="http://schemas.microsoft.com/office/drawing/2014/main" id="{9BD5CC96-C519-4B75-A599-6D1C50B2E5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27A2B0-4205-4282-8ACA-19A83B43DA33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27ED1CCC-2C7D-46CB-BFB3-5474F395C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Secondary Clustering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5D90DA7F-8CC6-467F-A49A-E1580581E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Pseudo-random probing eliminates primary clustering.</a:t>
            </a:r>
          </a:p>
          <a:p>
            <a:pPr eaLnBrk="1" hangingPunct="1"/>
            <a:r>
              <a:rPr lang="en-US" altLang="en-US"/>
              <a:t>If two keys hash to the same slot, they follow the same probe sequence.  This is called </a:t>
            </a:r>
            <a:r>
              <a:rPr lang="en-US" altLang="en-US" u="sng"/>
              <a:t>secondary clustering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To avoid secondary clustering, need probe sequence to be a function of the original key value, not just the home position.</a:t>
            </a:r>
          </a:p>
          <a:p>
            <a:pPr lvl="1" eaLnBrk="1" hangingPunct="1"/>
            <a:r>
              <a:rPr lang="en-US" altLang="en-US" i="1"/>
              <a:t>None of the probe functions we have looked at use K in any way!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7D5557D5-1C96-4169-BD69-9763184151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023F676F-ED6F-41B3-8186-7BFD1F2AC9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0C9B11-47C0-4D74-84FC-8320E38EC379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AF4ADDAC-345C-4D04-A120-74870D1E7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Double hashing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6F87154F-55A1-42B3-AB51-1554AFABF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One way to get a probe sequence that depends on </a:t>
            </a:r>
            <a:r>
              <a:rPr lang="en-US" altLang="en-US" i="1" dirty="0"/>
              <a:t>K</a:t>
            </a:r>
            <a:r>
              <a:rPr lang="en-US" altLang="en-US" dirty="0"/>
              <a:t> is to use linear probing, but to have the constant be different for each </a:t>
            </a:r>
            <a:r>
              <a:rPr lang="en-US" altLang="en-US" i="1" dirty="0"/>
              <a:t>K</a:t>
            </a: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We can use a second hash function to get the constant:  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p(K, </a:t>
            </a:r>
            <a:r>
              <a:rPr lang="en-US" alt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) = h</a:t>
            </a:r>
            <a:r>
              <a:rPr lang="en-US" altLang="en-US" baseline="-25000" dirty="0">
                <a:latin typeface="Courier New" panose="02070309020205020404" pitchFamily="49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(K)+ </a:t>
            </a:r>
            <a:r>
              <a:rPr lang="en-US" alt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  h</a:t>
            </a:r>
            <a:r>
              <a:rPr lang="en-US" altLang="en-US" baseline="-25000" dirty="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  <a:t>(K)</a:t>
            </a:r>
            <a:br>
              <a:rPr lang="en-US" altLang="en-US" dirty="0">
                <a:latin typeface="Courier New" panose="02070309020205020404" pitchFamily="49" charset="0"/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h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another hash function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US" dirty="0">
                <a:sym typeface="Symbol" panose="05050102010706020507" pitchFamily="18" charset="2"/>
              </a:rPr>
              <a:t>Example: Hash table of size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=101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)=30, </a:t>
            </a: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)=28, </a:t>
            </a: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)=30.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)=2, </a:t>
            </a: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)=5, </a:t>
            </a:r>
            <a:r>
              <a:rPr lang="en-US" altLang="en-US" b="1" i="1" dirty="0">
                <a:sym typeface="Symbol" panose="05050102010706020507" pitchFamily="18" charset="2"/>
              </a:rPr>
              <a:t>h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)=5.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dirty="0">
                <a:sym typeface="Symbol" panose="05050102010706020507" pitchFamily="18" charset="2"/>
              </a:rPr>
              <a:t>Probe sequence for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is:  30, 32, 34, 36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dirty="0">
                <a:sym typeface="Symbol" panose="05050102010706020507" pitchFamily="18" charset="2"/>
              </a:rPr>
              <a:t>Probe sequence for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is:  28, 33, 38, 43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dirty="0">
                <a:sym typeface="Symbol" panose="05050102010706020507" pitchFamily="18" charset="2"/>
              </a:rPr>
              <a:t>Probe sequence for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is:  30, 35, 40, 45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0C766A05-706E-46FA-BB60-B82FED2C29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3795" name="Slide Number Placeholder 4">
            <a:extLst>
              <a:ext uri="{FF2B5EF4-FFF2-40B4-BE49-F238E27FC236}">
                <a16:creationId xmlns:a16="http://schemas.microsoft.com/office/drawing/2014/main" id="{F60C71BB-5203-45ED-AA4B-36559695D8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5A9D42-89ED-48C4-8C58-0AC642550436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EFBDF06C-FBE3-4127-8190-3DFDA140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How do we pick the two hash functions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127928FB-11F0-40E9-B37B-294C6162A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good implementation of double hashing should ensure that all values of the second hash function are relatively prime to </a:t>
            </a:r>
            <a:r>
              <a:rPr lang="en-US" altLang="en-US" i="1"/>
              <a:t>N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N</a:t>
            </a:r>
            <a:r>
              <a:rPr lang="en-US" altLang="en-US"/>
              <a:t> is prime, than </a:t>
            </a:r>
            <a:r>
              <a:rPr lang="en-US" altLang="en-US" b="1" i="1"/>
              <a:t>h</a:t>
            </a:r>
            <a:r>
              <a:rPr lang="en-US" altLang="en-US" baseline="-25000"/>
              <a:t>2</a:t>
            </a:r>
            <a:r>
              <a:rPr lang="en-US" altLang="en-US"/>
              <a:t>() can return any number from 1 to </a:t>
            </a:r>
            <a:r>
              <a:rPr lang="en-US" altLang="en-US" i="1"/>
              <a:t>N</a:t>
            </a:r>
            <a:r>
              <a:rPr lang="en-US" altLang="en-US">
                <a:sym typeface="Symbol" panose="05050102010706020507" pitchFamily="18" charset="2"/>
              </a:rPr>
              <a:t>1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is 2</a:t>
            </a:r>
            <a:r>
              <a:rPr lang="en-US" altLang="en-US" i="1" baseline="30000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 than any </a:t>
            </a:r>
            <a:r>
              <a:rPr lang="en-US" altLang="en-US" b="1">
                <a:sym typeface="Symbol" panose="05050102010706020507" pitchFamily="18" charset="2"/>
              </a:rPr>
              <a:t>odd</a:t>
            </a:r>
            <a:r>
              <a:rPr lang="en-US" altLang="en-US">
                <a:sym typeface="Symbol" panose="05050102010706020507" pitchFamily="18" charset="2"/>
              </a:rPr>
              <a:t> number between 1 and </a:t>
            </a:r>
            <a:r>
              <a:rPr lang="en-US" altLang="en-US" i="1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  will 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4B4E538E-70F2-4F9E-99C8-AFFEC9F1E0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CAC96647-B7C6-4EC1-BD4E-2AC383D66A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01ECD3-49F7-4272-9225-6A82D1EBA3E7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466946" name="Rectangle 2">
            <a:extLst>
              <a:ext uri="{FF2B5EF4-FFF2-40B4-BE49-F238E27FC236}">
                <a16:creationId xmlns:a16="http://schemas.microsoft.com/office/drawing/2014/main" id="{70108C45-FE90-47C2-B77F-CB79F9929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How fast is hashing?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19E05B51-E2CD-4506-B922-9F4188729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a record is found in its home position, search takes O(1) time.</a:t>
            </a:r>
          </a:p>
          <a:p>
            <a:pPr eaLnBrk="1" hangingPunct="1"/>
            <a:r>
              <a:rPr lang="en-US" altLang="en-US"/>
              <a:t>As the table fills, the probability of collision increases</a:t>
            </a:r>
          </a:p>
          <a:p>
            <a:pPr eaLnBrk="1" hangingPunct="1"/>
            <a:r>
              <a:rPr lang="en-US" altLang="en-US"/>
              <a:t>Define the </a:t>
            </a:r>
            <a:r>
              <a:rPr lang="en-US" altLang="en-US" b="1"/>
              <a:t>load factor</a:t>
            </a:r>
            <a:r>
              <a:rPr lang="en-US" altLang="en-US"/>
              <a:t> for a table as </a:t>
            </a:r>
            <a:r>
              <a:rPr lang="en-US" altLang="en-US">
                <a:sym typeface="Symbol" panose="05050102010706020507" pitchFamily="18" charset="2"/>
              </a:rPr>
              <a:t> =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, where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is the number of records currently in the table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>
            <a:extLst>
              <a:ext uri="{FF2B5EF4-FFF2-40B4-BE49-F238E27FC236}">
                <a16:creationId xmlns:a16="http://schemas.microsoft.com/office/drawing/2014/main" id="{4B51517F-11B8-4E7C-A4D2-FF9CFD90C9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Hashing+</a:t>
            </a:r>
          </a:p>
        </p:txBody>
      </p:sp>
      <p:sp>
        <p:nvSpPr>
          <p:cNvPr id="35843" name="Slide Number Placeholder 4">
            <a:extLst>
              <a:ext uri="{FF2B5EF4-FFF2-40B4-BE49-F238E27FC236}">
                <a16:creationId xmlns:a16="http://schemas.microsoft.com/office/drawing/2014/main" id="{2BC7CE42-76FF-49C2-BDE5-618BD015A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7A868F-2244-42A3-8E38-25CFAEA5AA03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ED54EE0F-FC0C-4168-822F-FC1C5797F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Analysis of hashing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B160AF2E-E0F1-485E-8784-E6287B64346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2"/>
            <a:stretch>
              <a:fillRect l="-1964" t="-1972" r="-247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>
            <a:extLst>
              <a:ext uri="{FF2B5EF4-FFF2-40B4-BE49-F238E27FC236}">
                <a16:creationId xmlns:a16="http://schemas.microsoft.com/office/drawing/2014/main" id="{F3BD7199-8B8B-427F-A7AA-D8EDCAD51B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E44D2C43-6660-4A82-A4D7-A5AA42BEB3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C7600C-62B9-49E6-9604-9D52DCDD8E30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472066" name="Rectangle 2">
            <a:extLst>
              <a:ext uri="{FF2B5EF4-FFF2-40B4-BE49-F238E27FC236}">
                <a16:creationId xmlns:a16="http://schemas.microsoft.com/office/drawing/2014/main" id="{9029E2DC-A98B-4946-96C2-03B66A5B6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Analysis of hashing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69" name="Rectangle 3">
                <a:extLst>
                  <a:ext uri="{FF2B5EF4-FFF2-40B4-BE49-F238E27FC236}">
                    <a16:creationId xmlns:a16="http://schemas.microsoft.com/office/drawing/2014/main" id="{D5526AAF-9D28-4CC5-B6BC-39F29E59A2F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This value is approximated by (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/</a:t>
                </a:r>
                <a:r>
                  <a:rPr lang="en-US" altLang="en-US" i="1" dirty="0"/>
                  <a:t>N</a:t>
                </a:r>
                <a:r>
                  <a:rPr lang="en-US" altLang="en-US" dirty="0"/>
                  <a:t>)</a:t>
                </a:r>
                <a:r>
                  <a:rPr lang="en-US" altLang="en-US" i="1" baseline="30000" dirty="0" err="1"/>
                  <a:t>i</a:t>
                </a:r>
                <a:endParaRPr lang="en-US" altLang="en-US" dirty="0"/>
              </a:p>
              <a:p>
                <a:pPr eaLnBrk="1" hangingPunct="1"/>
                <a:r>
                  <a:rPr lang="en-US" altLang="en-US" dirty="0"/>
                  <a:t>The expected number of probes is: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r>
                  <a:rPr lang="en-US" altLang="en-US" dirty="0"/>
                  <a:t>Which is approximately</a:t>
                </a:r>
                <a:endParaRPr lang="en-US" altLang="en-US" b="0" i="1" dirty="0"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nary>
                        <m:naryPr>
                          <m:chr m:val="∑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type m:val="skw"/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eaLnBrk="1" hangingPunct="1"/>
                <a:r>
                  <a:rPr lang="en-US" altLang="en-US" dirty="0"/>
                  <a:t>This is a theoretical best-case, where there is no clustering happening</a:t>
                </a:r>
              </a:p>
            </p:txBody>
          </p:sp>
        </mc:Choice>
        <mc:Fallback>
          <p:sp>
            <p:nvSpPr>
              <p:cNvPr id="36869" name="Rectangle 3">
                <a:extLst>
                  <a:ext uri="{FF2B5EF4-FFF2-40B4-BE49-F238E27FC236}">
                    <a16:creationId xmlns:a16="http://schemas.microsoft.com/office/drawing/2014/main" id="{D5526AAF-9D28-4CC5-B6BC-39F29E59A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964" t="-1972" r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870" name="Object 4">
            <a:extLst>
              <a:ext uri="{FF2B5EF4-FFF2-40B4-BE49-F238E27FC236}">
                <a16:creationId xmlns:a16="http://schemas.microsoft.com/office/drawing/2014/main" id="{F552556C-1621-41C7-91F8-805F0026F2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149475"/>
          <a:ext cx="36576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431800" progId="Equation.3">
                  <p:embed/>
                </p:oleObj>
              </mc:Choice>
              <mc:Fallback>
                <p:oleObj name="Equation" r:id="rId3" imgW="2032000" imgH="431800" progId="Equation.3">
                  <p:embed/>
                  <p:pic>
                    <p:nvPicPr>
                      <p:cNvPr id="36870" name="Object 4">
                        <a:extLst>
                          <a:ext uri="{FF2B5EF4-FFF2-40B4-BE49-F238E27FC236}">
                            <a16:creationId xmlns:a16="http://schemas.microsoft.com/office/drawing/2014/main" id="{F552556C-1621-41C7-91F8-805F0026F2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149475"/>
                        <a:ext cx="36576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3C822636-7F8C-452C-B111-0AA28C8834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7891" name="Slide Number Placeholder 4">
            <a:extLst>
              <a:ext uri="{FF2B5EF4-FFF2-40B4-BE49-F238E27FC236}">
                <a16:creationId xmlns:a16="http://schemas.microsoft.com/office/drawing/2014/main" id="{E0C2AC3C-303E-4AFB-AD7F-17642534C5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00B852-790B-4F30-A588-4BA15925E524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2F26879A-D65A-4A32-A729-9E825340B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Hashing Performance</a:t>
            </a:r>
          </a:p>
        </p:txBody>
      </p:sp>
      <p:pic>
        <p:nvPicPr>
          <p:cNvPr id="37893" name="Picture 4" descr="hashplot">
            <a:extLst>
              <a:ext uri="{FF2B5EF4-FFF2-40B4-BE49-F238E27FC236}">
                <a16:creationId xmlns:a16="http://schemas.microsoft.com/office/drawing/2014/main" id="{D94AE317-27AB-4BDA-AF6D-B1C64B36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5638800" cy="37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Text Box 5">
            <a:extLst>
              <a:ext uri="{FF2B5EF4-FFF2-40B4-BE49-F238E27FC236}">
                <a16:creationId xmlns:a16="http://schemas.microsoft.com/office/drawing/2014/main" id="{DCE0615C-58B6-4271-ACFF-18D11B3D2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715000"/>
            <a:ext cx="376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37895" name="Text Box 6">
            <a:extLst>
              <a:ext uri="{FF2B5EF4-FFF2-40B4-BE49-F238E27FC236}">
                <a16:creationId xmlns:a16="http://schemas.microsoft.com/office/drawing/2014/main" id="{6EC71AA0-980D-4F31-8F53-C823138D9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413125"/>
            <a:ext cx="1387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Expected number of accesses</a:t>
            </a:r>
          </a:p>
        </p:txBody>
      </p:sp>
      <p:sp>
        <p:nvSpPr>
          <p:cNvPr id="37896" name="Line 7">
            <a:extLst>
              <a:ext uri="{FF2B5EF4-FFF2-40B4-BE49-F238E27FC236}">
                <a16:creationId xmlns:a16="http://schemas.microsoft.com/office/drawing/2014/main" id="{C8E725DB-036F-40A3-8065-5CEBC200C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137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Text Box 8">
            <a:extLst>
              <a:ext uri="{FF2B5EF4-FFF2-40B4-BE49-F238E27FC236}">
                <a16:creationId xmlns:a16="http://schemas.microsoft.com/office/drawing/2014/main" id="{7AA19230-3EF9-4C3A-817A-1F3D1692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1171575"/>
            <a:ext cx="3705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= no clustering (theoretical bound)</a:t>
            </a:r>
          </a:p>
        </p:txBody>
      </p:sp>
      <p:sp>
        <p:nvSpPr>
          <p:cNvPr id="37898" name="Line 9">
            <a:extLst>
              <a:ext uri="{FF2B5EF4-FFF2-40B4-BE49-F238E27FC236}">
                <a16:creationId xmlns:a16="http://schemas.microsoft.com/office/drawing/2014/main" id="{9445E8F3-70AC-4D51-AC72-3917C9B63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0350" y="18605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Text Box 10">
            <a:extLst>
              <a:ext uri="{FF2B5EF4-FFF2-40B4-BE49-F238E27FC236}">
                <a16:creationId xmlns:a16="http://schemas.microsoft.com/office/drawing/2014/main" id="{8665DEA1-6AC3-4029-892B-036FB013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1660525"/>
            <a:ext cx="3752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= linear probing (lots of clustering)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000EBD8-715D-4B73-8DD5-699E6D2D14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0D25A952-CB82-420E-B003-561EBE6C6F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DE5F33-FA21-4B12-9427-9AFCEE522B7E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476162" name="Rectangle 2">
            <a:extLst>
              <a:ext uri="{FF2B5EF4-FFF2-40B4-BE49-F238E27FC236}">
                <a16:creationId xmlns:a16="http://schemas.microsoft.com/office/drawing/2014/main" id="{777E0477-7E05-45E8-9095-CC3F939D2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Deletion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E57D219B-9361-4404-805A-14674DF494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Deleting a record must not hinder later searches.</a:t>
            </a: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Remember, we stop the search through the probe sequence when we find an empty slot.</a:t>
            </a: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endParaRPr lang="en-US" altLang="en-US" i="1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We do not want to make positions in the hash table unusable because of deletion.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1DD992CA-FC39-4DBE-80C2-E04FEE6FD9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40963" name="Slide Number Placeholder 4">
            <a:extLst>
              <a:ext uri="{FF2B5EF4-FFF2-40B4-BE49-F238E27FC236}">
                <a16:creationId xmlns:a16="http://schemas.microsoft.com/office/drawing/2014/main" id="{D80FD702-8CC9-4A04-89FF-315CF3A08D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007CA4-02BF-4D93-AC75-4496C9AC4B02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32919572-AB64-4C78-B5D1-8B3985869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Tombstones (1)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0AA56EFA-8C8A-4C1F-B7F9-32524834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Both of these problems can be resolved by placing a special mark in place of the deleted record, called a </a:t>
            </a:r>
            <a:r>
              <a:rPr lang="en-US" altLang="en-US" u="sng">
                <a:sym typeface="Symbol" panose="05050102010706020507" pitchFamily="18" charset="2"/>
              </a:rPr>
              <a:t>tombstone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609600" indent="-609600" eaLnBrk="1" hangingPunct="1">
              <a:lnSpc>
                <a:spcPct val="20000"/>
              </a:lnSpc>
              <a:buFont typeface="Symbol" panose="05050102010706020507" pitchFamily="18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A tombstone will not stop a search, but that slot can be used for future insertions.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>
            <a:extLst>
              <a:ext uri="{FF2B5EF4-FFF2-40B4-BE49-F238E27FC236}">
                <a16:creationId xmlns:a16="http://schemas.microsoft.com/office/drawing/2014/main" id="{96093971-5115-4CC5-9770-A40053443B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400"/>
              <a:t>Search and Hashing</a:t>
            </a:r>
          </a:p>
        </p:txBody>
      </p:sp>
      <p:sp>
        <p:nvSpPr>
          <p:cNvPr id="43011" name="Slide Number Placeholder 4">
            <a:extLst>
              <a:ext uri="{FF2B5EF4-FFF2-40B4-BE49-F238E27FC236}">
                <a16:creationId xmlns:a16="http://schemas.microsoft.com/office/drawing/2014/main" id="{E9232CF7-2B8A-4B78-B1BA-E843CB454D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777777"/>
              </a:buClr>
              <a:buFont typeface="Symbol" panose="05050102010706020507" pitchFamily="18" charset="2"/>
              <a:buChar char="·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85E27D-BC9F-4A84-ADFB-4C7253B81F42}" type="slidenum">
              <a:rPr lang="en-US" altLang="en-US" sz="140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480258" name="Rectangle 2">
            <a:extLst>
              <a:ext uri="{FF2B5EF4-FFF2-40B4-BE49-F238E27FC236}">
                <a16:creationId xmlns:a16="http://schemas.microsoft.com/office/drawing/2014/main" id="{3E236FEB-3B9C-4D82-B615-E0975A05F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152400"/>
            <a:ext cx="822642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/>
              <a:t>Tombstones (2)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E6CD518F-76F0-4C1B-8487-10482479F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226425" cy="4953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Unfortunately, tombstones add to the average path length.</a:t>
            </a:r>
          </a:p>
          <a:p>
            <a:pPr marL="609600" indent="-609600" eaLnBrk="1" hangingPunct="1">
              <a:lnSpc>
                <a:spcPct val="30000"/>
              </a:lnSpc>
              <a:buFont typeface="Symbol" panose="05050102010706020507" pitchFamily="18" charset="2"/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Solutions: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Local reorganizations to try to shorten the average path length.</a:t>
            </a:r>
          </a:p>
          <a:p>
            <a:pPr marL="609600" indent="-60960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eriod"/>
            </a:pPr>
            <a:r>
              <a:rPr lang="en-US" altLang="en-US">
                <a:sym typeface="Symbol" panose="05050102010706020507" pitchFamily="18" charset="2"/>
              </a:rPr>
              <a:t>Periodically rehash the table (by order of most frequently accessed record).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77777"/>
      </a:accent1>
      <a:accent2>
        <a:srgbClr val="C0C0C0"/>
      </a:accent2>
      <a:accent3>
        <a:srgbClr val="FFFFFF"/>
      </a:accent3>
      <a:accent4>
        <a:srgbClr val="000000"/>
      </a:accent4>
      <a:accent5>
        <a:srgbClr val="BDBDBD"/>
      </a:accent5>
      <a:accent6>
        <a:srgbClr val="AEAEAE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2161</Words>
  <Application>Microsoft Office PowerPoint</Application>
  <PresentationFormat>On-screen Show (4:3)</PresentationFormat>
  <Paragraphs>305</Paragraphs>
  <Slides>31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Times New Roman</vt:lpstr>
      <vt:lpstr>Arial</vt:lpstr>
      <vt:lpstr>Symbol</vt:lpstr>
      <vt:lpstr>Wingdings</vt:lpstr>
      <vt:lpstr>Helvetica</vt:lpstr>
      <vt:lpstr>Courier New</vt:lpstr>
      <vt:lpstr>Default Design</vt:lpstr>
      <vt:lpstr>Microsoft Equation 3.0</vt:lpstr>
      <vt:lpstr>Searching:  Self Organizing Structures and Hashing</vt:lpstr>
      <vt:lpstr>Searching</vt:lpstr>
      <vt:lpstr>Searching Sorted Arrays</vt:lpstr>
      <vt:lpstr>Self Organization</vt:lpstr>
      <vt:lpstr>Reorder Heuristics</vt:lpstr>
      <vt:lpstr>Analysis of Self Organizing Lists</vt:lpstr>
      <vt:lpstr>Hashing</vt:lpstr>
      <vt:lpstr>Hash Function Distribution</vt:lpstr>
      <vt:lpstr>Example Hash Functions</vt:lpstr>
      <vt:lpstr>Jenkins One-at-a-time Hash</vt:lpstr>
      <vt:lpstr>Chaining</vt:lpstr>
      <vt:lpstr>Bucket Hashing</vt:lpstr>
      <vt:lpstr>Open Addressing</vt:lpstr>
      <vt:lpstr>Collision Resolution</vt:lpstr>
      <vt:lpstr>Linear Probing: Insertion</vt:lpstr>
      <vt:lpstr>Linear Probing Removal:  Tombstones</vt:lpstr>
      <vt:lpstr>Linear Probing: Search</vt:lpstr>
      <vt:lpstr>Linear Probing Example</vt:lpstr>
      <vt:lpstr>Quadratic probing</vt:lpstr>
      <vt:lpstr>Pseudo-random Probing</vt:lpstr>
      <vt:lpstr>Pseudo-random probe example</vt:lpstr>
      <vt:lpstr>Secondary Clustering</vt:lpstr>
      <vt:lpstr>Double hashing</vt:lpstr>
      <vt:lpstr>How do we pick the two hash functions</vt:lpstr>
      <vt:lpstr>How fast is hashing?</vt:lpstr>
      <vt:lpstr>Analysis of hashing</vt:lpstr>
      <vt:lpstr>Analysis of hashing (2)</vt:lpstr>
      <vt:lpstr>Hashing Performance</vt:lpstr>
      <vt:lpstr>Deletion</vt:lpstr>
      <vt:lpstr>Tombstones (1)</vt:lpstr>
      <vt:lpstr>Tombstones (2)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CS790 – Introduction to Bioinformatics</dc:title>
  <dc:subject>Protein Structure and Function</dc:subject>
  <dc:creator>Michael L. Raymer</dc:creator>
  <cp:lastModifiedBy>Raymer, Michael L.</cp:lastModifiedBy>
  <cp:revision>95</cp:revision>
  <dcterms:created xsi:type="dcterms:W3CDTF">2001-03-21T19:58:05Z</dcterms:created>
  <dcterms:modified xsi:type="dcterms:W3CDTF">2022-03-24T16:23:59Z</dcterms:modified>
</cp:coreProperties>
</file>